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210 마마블럭" charset="1" panose="02020603020101020101"/>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https://github.com/christiangavriel/Product_Sales_Forecasting"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jpeg" Type="http://schemas.openxmlformats.org/officeDocument/2006/relationships/image"/><Relationship Id="rId7" Target="https://www.kaggle.com/datasets/cameronseamons/electronic-sales-sep2023-sep2024"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false" rot="0">
            <a:off x="-520028" y="4678788"/>
            <a:ext cx="18808028" cy="11216424"/>
          </a:xfrm>
          <a:custGeom>
            <a:avLst/>
            <a:gdLst/>
            <a:ahLst/>
            <a:cxnLst/>
            <a:rect r="r" b="b" t="t" l="l"/>
            <a:pathLst>
              <a:path h="11216424" w="18808028">
                <a:moveTo>
                  <a:pt x="18808028" y="0"/>
                </a:moveTo>
                <a:lnTo>
                  <a:pt x="0" y="0"/>
                </a:lnTo>
                <a:lnTo>
                  <a:pt x="0" y="11216424"/>
                </a:lnTo>
                <a:lnTo>
                  <a:pt x="18808028" y="11216424"/>
                </a:lnTo>
                <a:lnTo>
                  <a:pt x="1880802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2057400"/>
            <a:ext cx="10270952" cy="8229600"/>
          </a:xfrm>
          <a:custGeom>
            <a:avLst/>
            <a:gdLst/>
            <a:ahLst/>
            <a:cxnLst/>
            <a:rect r="r" b="b" t="t" l="l"/>
            <a:pathLst>
              <a:path h="8229600" w="10270952">
                <a:moveTo>
                  <a:pt x="0" y="0"/>
                </a:moveTo>
                <a:lnTo>
                  <a:pt x="10270952" y="0"/>
                </a:lnTo>
                <a:lnTo>
                  <a:pt x="10270952" y="8229600"/>
                </a:lnTo>
                <a:lnTo>
                  <a:pt x="0" y="8229600"/>
                </a:lnTo>
                <a:lnTo>
                  <a:pt x="0" y="0"/>
                </a:lnTo>
                <a:close/>
              </a:path>
            </a:pathLst>
          </a:custGeom>
          <a:blipFill>
            <a:blip r:embed="rId5"/>
            <a:stretch>
              <a:fillRect l="0" t="0" r="0" b="0"/>
            </a:stretch>
          </a:blipFill>
        </p:spPr>
      </p:sp>
      <p:sp>
        <p:nvSpPr>
          <p:cNvPr name="TextBox 5" id="5"/>
          <p:cNvSpPr txBox="true"/>
          <p:nvPr/>
        </p:nvSpPr>
        <p:spPr>
          <a:xfrm rot="0">
            <a:off x="7353123" y="2133600"/>
            <a:ext cx="10737397" cy="2319580"/>
          </a:xfrm>
          <a:prstGeom prst="rect">
            <a:avLst/>
          </a:prstGeom>
        </p:spPr>
        <p:txBody>
          <a:bodyPr anchor="t" rtlCol="false" tIns="0" lIns="0" bIns="0" rIns="0">
            <a:spAutoFit/>
          </a:bodyPr>
          <a:lstStyle/>
          <a:p>
            <a:pPr algn="ctr">
              <a:lnSpc>
                <a:spcPts val="6050"/>
              </a:lnSpc>
            </a:pPr>
            <a:r>
              <a:rPr lang="en-US" sz="5762">
                <a:solidFill>
                  <a:srgbClr val="FFFFFF"/>
                </a:solidFill>
                <a:latin typeface="210 마마블럭"/>
                <a:ea typeface="210 마마블럭"/>
                <a:cs typeface="210 마마블럭"/>
                <a:sym typeface="210 마마블럭"/>
              </a:rPr>
              <a:t>PRODUCT SALES FORECASTING TIME-SERIES ANALYSIS WITH XGBOOST AND LSTM </a:t>
            </a:r>
          </a:p>
        </p:txBody>
      </p:sp>
      <p:sp>
        <p:nvSpPr>
          <p:cNvPr name="TextBox 6" id="6"/>
          <p:cNvSpPr txBox="true"/>
          <p:nvPr/>
        </p:nvSpPr>
        <p:spPr>
          <a:xfrm rot="0">
            <a:off x="10859748" y="4848225"/>
            <a:ext cx="3183510" cy="485775"/>
          </a:xfrm>
          <a:prstGeom prst="rect">
            <a:avLst/>
          </a:prstGeom>
        </p:spPr>
        <p:txBody>
          <a:bodyPr anchor="t" rtlCol="false" tIns="0" lIns="0" bIns="0" rIns="0">
            <a:spAutoFit/>
          </a:bodyPr>
          <a:lstStyle/>
          <a:p>
            <a:pPr algn="ctr">
              <a:lnSpc>
                <a:spcPts val="3675"/>
              </a:lnSpc>
            </a:pPr>
            <a:r>
              <a:rPr lang="en-US" sz="3500" u="sng">
                <a:solidFill>
                  <a:srgbClr val="FFFFFF"/>
                </a:solidFill>
                <a:latin typeface="210 마마블럭"/>
                <a:ea typeface="210 마마블럭"/>
                <a:cs typeface="210 마마블럭"/>
                <a:sym typeface="210 마마블럭"/>
                <a:hlinkClick r:id="rId6" tooltip="https://github.com/christiangavriel/Product_Sales_Forecasting"/>
              </a:rPr>
              <a:t>GITHUB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5900180" y="1518267"/>
            <a:ext cx="6065441"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LATAR BELAKANG</a:t>
            </a:r>
          </a:p>
        </p:txBody>
      </p:sp>
      <p:sp>
        <p:nvSpPr>
          <p:cNvPr name="TextBox 7" id="7"/>
          <p:cNvSpPr txBox="true"/>
          <p:nvPr/>
        </p:nvSpPr>
        <p:spPr>
          <a:xfrm rot="0">
            <a:off x="1389647" y="3975349"/>
            <a:ext cx="15086507" cy="3470475"/>
          </a:xfrm>
          <a:prstGeom prst="rect">
            <a:avLst/>
          </a:prstGeom>
        </p:spPr>
        <p:txBody>
          <a:bodyPr anchor="t" rtlCol="false" tIns="0" lIns="0" bIns="0" rIns="0">
            <a:spAutoFit/>
          </a:bodyPr>
          <a:lstStyle/>
          <a:p>
            <a:pPr algn="just">
              <a:lnSpc>
                <a:spcPts val="3961"/>
              </a:lnSpc>
              <a:spcBef>
                <a:spcPct val="0"/>
              </a:spcBef>
            </a:pPr>
            <a:r>
              <a:rPr lang="en-US" sz="3385">
                <a:solidFill>
                  <a:srgbClr val="000000"/>
                </a:solidFill>
                <a:latin typeface="210 마마블럭"/>
                <a:ea typeface="210 마마블럭"/>
                <a:cs typeface="210 마마블럭"/>
                <a:sym typeface="210 마마블럭"/>
              </a:rPr>
              <a:t>Dalam era digital dan perkembangan teknologi yang sangat pesat, industri elektronik mengalami pertumbuhan yang signifikan baik dari sisi produk, permintaan pasar, maupun persaingan antar pelaku usaha. Barang-barang elektronik seperti smartphone, laptop, televisi, perangkat rumah pintar, dan aksesoris digital menjadi kebutuhan primer bagi masyarakat modern. Seiring dengan meningkatnya kebutuhan tersebut, pelaku bisnis dituntut untuk dapat memprediksi permintaan pasar dengan lebih akurat agar mampu menyusun strategi penjualan yang efektif dan efisien.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028700" y="1100605"/>
            <a:ext cx="16230600" cy="8085790"/>
          </a:xfrm>
          <a:custGeom>
            <a:avLst/>
            <a:gdLst/>
            <a:ahLst/>
            <a:cxnLst/>
            <a:rect r="r" b="b" t="t" l="l"/>
            <a:pathLst>
              <a:path h="8085790" w="16230600">
                <a:moveTo>
                  <a:pt x="0" y="0"/>
                </a:moveTo>
                <a:lnTo>
                  <a:pt x="16230600" y="0"/>
                </a:lnTo>
                <a:lnTo>
                  <a:pt x="16230600" y="8085790"/>
                </a:lnTo>
                <a:lnTo>
                  <a:pt x="0" y="8085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6" id="6"/>
          <p:cNvSpPr/>
          <p:nvPr/>
        </p:nvSpPr>
        <p:spPr>
          <a:xfrm flipH="false" flipV="false" rot="0">
            <a:off x="2743754" y="2762761"/>
            <a:ext cx="13340778" cy="4250116"/>
          </a:xfrm>
          <a:custGeom>
            <a:avLst/>
            <a:gdLst/>
            <a:ahLst/>
            <a:cxnLst/>
            <a:rect r="r" b="b" t="t" l="l"/>
            <a:pathLst>
              <a:path h="4250116" w="13340778">
                <a:moveTo>
                  <a:pt x="0" y="0"/>
                </a:moveTo>
                <a:lnTo>
                  <a:pt x="13340778" y="0"/>
                </a:lnTo>
                <a:lnTo>
                  <a:pt x="13340778" y="4250116"/>
                </a:lnTo>
                <a:lnTo>
                  <a:pt x="0" y="4250116"/>
                </a:lnTo>
                <a:lnTo>
                  <a:pt x="0" y="0"/>
                </a:lnTo>
                <a:close/>
              </a:path>
            </a:pathLst>
          </a:custGeom>
          <a:blipFill>
            <a:blip r:embed="rId6"/>
            <a:stretch>
              <a:fillRect l="0" t="-1556" r="0" b="-36948"/>
            </a:stretch>
          </a:blipFill>
        </p:spPr>
      </p:sp>
      <p:sp>
        <p:nvSpPr>
          <p:cNvPr name="TextBox 7" id="7"/>
          <p:cNvSpPr txBox="true"/>
          <p:nvPr/>
        </p:nvSpPr>
        <p:spPr>
          <a:xfrm rot="0">
            <a:off x="6011763" y="1456929"/>
            <a:ext cx="5475684"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Sample Dataset</a:t>
            </a:r>
          </a:p>
        </p:txBody>
      </p:sp>
      <p:sp>
        <p:nvSpPr>
          <p:cNvPr name="TextBox 8" id="8"/>
          <p:cNvSpPr txBox="true"/>
          <p:nvPr/>
        </p:nvSpPr>
        <p:spPr>
          <a:xfrm rot="0">
            <a:off x="5081204" y="7918120"/>
            <a:ext cx="8125592" cy="849175"/>
          </a:xfrm>
          <a:prstGeom prst="rect">
            <a:avLst/>
          </a:prstGeom>
        </p:spPr>
        <p:txBody>
          <a:bodyPr anchor="t" rtlCol="false" tIns="0" lIns="0" bIns="0" rIns="0">
            <a:spAutoFit/>
          </a:bodyPr>
          <a:lstStyle/>
          <a:p>
            <a:pPr algn="ctr">
              <a:lnSpc>
                <a:spcPts val="3370"/>
              </a:lnSpc>
            </a:pPr>
            <a:r>
              <a:rPr lang="en-US" sz="2880" u="sng">
                <a:solidFill>
                  <a:srgbClr val="000000"/>
                </a:solidFill>
                <a:latin typeface="210 마마블럭"/>
                <a:ea typeface="210 마마블럭"/>
                <a:cs typeface="210 마마블럭"/>
                <a:sym typeface="210 마마블럭"/>
                <a:hlinkClick r:id="rId7" tooltip="https://www.kaggle.com/datasets/cameronseamons/electronic-sales-sep2023-sep2024"/>
              </a:rPr>
              <a:t>Referensi Dataset Kaggle </a:t>
            </a:r>
          </a:p>
          <a:p>
            <a:pPr algn="ctr">
              <a:lnSpc>
                <a:spcPts val="337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106035" y="1470623"/>
            <a:ext cx="10332105" cy="911677"/>
          </a:xfrm>
          <a:prstGeom prst="rect">
            <a:avLst/>
          </a:prstGeom>
        </p:spPr>
        <p:txBody>
          <a:bodyPr anchor="t" rtlCol="false" tIns="0" lIns="0" bIns="0" rIns="0">
            <a:spAutoFit/>
          </a:bodyPr>
          <a:lstStyle/>
          <a:p>
            <a:pPr algn="ctr">
              <a:lnSpc>
                <a:spcPts val="7111"/>
              </a:lnSpc>
              <a:spcBef>
                <a:spcPct val="0"/>
              </a:spcBef>
            </a:pPr>
            <a:r>
              <a:rPr lang="en-US" sz="6078">
                <a:solidFill>
                  <a:srgbClr val="000000"/>
                </a:solidFill>
                <a:latin typeface="210 마마블럭"/>
                <a:ea typeface="210 마마블럭"/>
                <a:cs typeface="210 마마블럭"/>
                <a:sym typeface="210 마마블럭"/>
              </a:rPr>
              <a:t>DATA CLEANING PREPROCESSING</a:t>
            </a:r>
          </a:p>
        </p:txBody>
      </p:sp>
      <p:sp>
        <p:nvSpPr>
          <p:cNvPr name="TextBox 7" id="7"/>
          <p:cNvSpPr txBox="true"/>
          <p:nvPr/>
        </p:nvSpPr>
        <p:spPr>
          <a:xfrm rot="0">
            <a:off x="571835" y="3747329"/>
            <a:ext cx="9525" cy="498675"/>
          </a:xfrm>
          <a:prstGeom prst="rect">
            <a:avLst/>
          </a:prstGeom>
        </p:spPr>
        <p:txBody>
          <a:bodyPr anchor="t" rtlCol="false" tIns="0" lIns="0" bIns="0" rIns="0">
            <a:spAutoFit/>
          </a:bodyPr>
          <a:lstStyle/>
          <a:p>
            <a:pPr algn="l">
              <a:lnSpc>
                <a:spcPts val="3961"/>
              </a:lnSpc>
              <a:spcBef>
                <a:spcPct val="0"/>
              </a:spcBef>
            </a:pPr>
          </a:p>
        </p:txBody>
      </p:sp>
      <p:sp>
        <p:nvSpPr>
          <p:cNvPr name="TextBox 8" id="8"/>
          <p:cNvSpPr txBox="true"/>
          <p:nvPr/>
        </p:nvSpPr>
        <p:spPr>
          <a:xfrm rot="0">
            <a:off x="1349271" y="2917493"/>
            <a:ext cx="15589458" cy="6166764"/>
          </a:xfrm>
          <a:prstGeom prst="rect">
            <a:avLst/>
          </a:prstGeom>
        </p:spPr>
        <p:txBody>
          <a:bodyPr anchor="t" rtlCol="false" tIns="0" lIns="0" bIns="0" rIns="0">
            <a:spAutoFit/>
          </a:bodyPr>
          <a:lstStyle/>
          <a:p>
            <a:pPr algn="just">
              <a:lnSpc>
                <a:spcPts val="2448"/>
              </a:lnSpc>
            </a:pPr>
            <a:r>
              <a:rPr lang="en-US" sz="2092">
                <a:solidFill>
                  <a:srgbClr val="000000"/>
                </a:solidFill>
                <a:latin typeface="210 마마블럭"/>
                <a:ea typeface="210 마마블럭"/>
                <a:cs typeface="210 마마블럭"/>
                <a:sym typeface="210 마마블럭"/>
              </a:rPr>
              <a:t>Dalam tahap pembersihan dan pra-pemrosesan data, dilakukan beberapa langkah berikut untuk memastikan kualitas dan konsistensi data:</a:t>
            </a:r>
          </a:p>
          <a:p>
            <a:pPr algn="just">
              <a:lnSpc>
                <a:spcPts val="2448"/>
              </a:lnSpc>
            </a:pPr>
          </a:p>
          <a:p>
            <a:pPr algn="just" marL="451856" indent="-225928" lvl="1">
              <a:lnSpc>
                <a:spcPts val="2448"/>
              </a:lnSpc>
              <a:buAutoNum type="arabicPeriod" startAt="1"/>
            </a:pPr>
            <a:r>
              <a:rPr lang="en-US" sz="2092">
                <a:solidFill>
                  <a:srgbClr val="000000"/>
                </a:solidFill>
                <a:latin typeface="210 마마블럭"/>
                <a:ea typeface="210 마마블럭"/>
                <a:cs typeface="210 마마블럭"/>
                <a:sym typeface="210 마마블럭"/>
              </a:rPr>
              <a:t>Penghapusan Kolom yang Tidak Relevan</a:t>
            </a:r>
          </a:p>
          <a:p>
            <a:pPr algn="just">
              <a:lnSpc>
                <a:spcPts val="2448"/>
              </a:lnSpc>
            </a:pPr>
            <a:r>
              <a:rPr lang="en-US" sz="2092">
                <a:solidFill>
                  <a:srgbClr val="000000"/>
                </a:solidFill>
                <a:latin typeface="210 마마블럭"/>
                <a:ea typeface="210 마마블럭"/>
                <a:cs typeface="210 마마블럭"/>
                <a:sym typeface="210 마마블럭"/>
              </a:rPr>
              <a:t>Kolom CustomerID dan Shipping Type dihapus karena tidak memberikan kontribusi signifikan terhadap analisis atau pemodelan yang akan dilakukan.</a:t>
            </a:r>
          </a:p>
          <a:p>
            <a:pPr algn="just">
              <a:lnSpc>
                <a:spcPts val="2448"/>
              </a:lnSpc>
            </a:pPr>
          </a:p>
          <a:p>
            <a:pPr algn="just">
              <a:lnSpc>
                <a:spcPts val="2448"/>
              </a:lnSpc>
            </a:pPr>
            <a:r>
              <a:rPr lang="en-US" sz="2092">
                <a:solidFill>
                  <a:srgbClr val="000000"/>
                </a:solidFill>
                <a:latin typeface="210 마마블럭"/>
                <a:ea typeface="210 마마블럭"/>
                <a:cs typeface="210 마마블럭"/>
                <a:sym typeface="210 마마블럭"/>
              </a:rPr>
              <a:t>   2.</a:t>
            </a:r>
            <a:r>
              <a:rPr lang="en-US" sz="2092">
                <a:solidFill>
                  <a:srgbClr val="000000"/>
                </a:solidFill>
                <a:latin typeface="210 마마블럭"/>
                <a:ea typeface="210 마마블럭"/>
                <a:cs typeface="210 마마블럭"/>
                <a:sym typeface="210 마마블럭"/>
              </a:rPr>
              <a:t> Konversi Tipe Data Tanggal</a:t>
            </a:r>
          </a:p>
          <a:p>
            <a:pPr algn="just">
              <a:lnSpc>
                <a:spcPts val="2448"/>
              </a:lnSpc>
            </a:pPr>
            <a:r>
              <a:rPr lang="en-US" sz="2092">
                <a:solidFill>
                  <a:srgbClr val="000000"/>
                </a:solidFill>
                <a:latin typeface="210 마마블럭"/>
                <a:ea typeface="210 마마블럭"/>
                <a:cs typeface="210 마마블럭"/>
                <a:sym typeface="210 마마블럭"/>
              </a:rPr>
              <a:t>Seluruh kolom yang berisi informasi tanggal dikonversi ke format datetime yang konsisten untuk memudahkan analisis berbasis waktu.</a:t>
            </a:r>
          </a:p>
          <a:p>
            <a:pPr algn="just">
              <a:lnSpc>
                <a:spcPts val="2448"/>
              </a:lnSpc>
            </a:pPr>
          </a:p>
          <a:p>
            <a:pPr algn="just">
              <a:lnSpc>
                <a:spcPts val="2448"/>
              </a:lnSpc>
            </a:pPr>
            <a:r>
              <a:rPr lang="en-US" sz="2092">
                <a:solidFill>
                  <a:srgbClr val="000000"/>
                </a:solidFill>
                <a:latin typeface="210 마마블럭"/>
                <a:ea typeface="210 마마블럭"/>
                <a:cs typeface="210 마마블럭"/>
                <a:sym typeface="210 마마블럭"/>
              </a:rPr>
              <a:t>   3. </a:t>
            </a:r>
            <a:r>
              <a:rPr lang="en-US" sz="2092">
                <a:solidFill>
                  <a:srgbClr val="000000"/>
                </a:solidFill>
                <a:latin typeface="210 마마블럭"/>
                <a:ea typeface="210 마마블럭"/>
                <a:cs typeface="210 마마블럭"/>
                <a:sym typeface="210 마마블럭"/>
              </a:rPr>
              <a:t>Penanganan Nilai Kosong (Missing Values)</a:t>
            </a:r>
          </a:p>
          <a:p>
            <a:pPr algn="just">
              <a:lnSpc>
                <a:spcPts val="2448"/>
              </a:lnSpc>
            </a:pPr>
            <a:r>
              <a:rPr lang="en-US" sz="2092">
                <a:solidFill>
                  <a:srgbClr val="000000"/>
                </a:solidFill>
                <a:latin typeface="210 마마블럭"/>
                <a:ea typeface="210 마마블럭"/>
                <a:cs typeface="210 마마블럭"/>
                <a:sym typeface="210 마마블럭"/>
              </a:rPr>
              <a:t>Dilakukan pengecekan terhadap keberadaan nilai kosong (NaN). Semua baris yang mengandung nilai kosong dihapus untuk menjaga integritas data.</a:t>
            </a:r>
          </a:p>
          <a:p>
            <a:pPr algn="just">
              <a:lnSpc>
                <a:spcPts val="2448"/>
              </a:lnSpc>
            </a:pPr>
          </a:p>
          <a:p>
            <a:pPr algn="just">
              <a:lnSpc>
                <a:spcPts val="2448"/>
              </a:lnSpc>
            </a:pPr>
            <a:r>
              <a:rPr lang="en-US" sz="2092">
                <a:solidFill>
                  <a:srgbClr val="000000"/>
                </a:solidFill>
                <a:latin typeface="210 마마블럭"/>
                <a:ea typeface="210 마마블럭"/>
                <a:cs typeface="210 마마블럭"/>
                <a:sym typeface="210 마마블럭"/>
              </a:rPr>
              <a:t>   4.</a:t>
            </a:r>
            <a:r>
              <a:rPr lang="en-US" sz="2092">
                <a:solidFill>
                  <a:srgbClr val="000000"/>
                </a:solidFill>
                <a:latin typeface="210 마마블럭"/>
                <a:ea typeface="210 마마블럭"/>
                <a:cs typeface="210 마마블럭"/>
                <a:sym typeface="210 마마블럭"/>
              </a:rPr>
              <a:t> Identifikasi dan Penghapusan Duplikasi</a:t>
            </a:r>
          </a:p>
          <a:p>
            <a:pPr algn="just">
              <a:lnSpc>
                <a:spcPts val="2448"/>
              </a:lnSpc>
            </a:pPr>
            <a:r>
              <a:rPr lang="en-US" sz="2092">
                <a:solidFill>
                  <a:srgbClr val="000000"/>
                </a:solidFill>
                <a:latin typeface="210 마마블럭"/>
                <a:ea typeface="210 마마블럭"/>
                <a:cs typeface="210 마마블럭"/>
                <a:sym typeface="210 마마블럭"/>
              </a:rPr>
              <a:t>Dataset diperiksa terhadap adanya baris yang duplikat. Baris duplikat yang ditemukan kemudian dihapus agar tidak memengaruhi hasil analisis.</a:t>
            </a:r>
          </a:p>
          <a:p>
            <a:pPr algn="just">
              <a:lnSpc>
                <a:spcPts val="2448"/>
              </a:lnSpc>
            </a:pPr>
            <a:r>
              <a:rPr lang="en-US" sz="2092">
                <a:solidFill>
                  <a:srgbClr val="000000"/>
                </a:solidFill>
                <a:latin typeface="210 마마블럭"/>
                <a:ea typeface="210 마마블럭"/>
                <a:cs typeface="210 마마블럭"/>
                <a:sym typeface="210 마마블럭"/>
              </a:rPr>
              <a:t>   </a:t>
            </a:r>
          </a:p>
          <a:p>
            <a:pPr algn="just">
              <a:lnSpc>
                <a:spcPts val="2448"/>
              </a:lnSpc>
            </a:pPr>
            <a:r>
              <a:rPr lang="en-US" sz="2092">
                <a:solidFill>
                  <a:srgbClr val="000000"/>
                </a:solidFill>
                <a:latin typeface="210 마마블럭"/>
                <a:ea typeface="210 마마블럭"/>
                <a:cs typeface="210 마마블럭"/>
                <a:sym typeface="210 마마블럭"/>
              </a:rPr>
              <a:t>   5.</a:t>
            </a:r>
            <a:r>
              <a:rPr lang="en-US" sz="2092">
                <a:solidFill>
                  <a:srgbClr val="000000"/>
                </a:solidFill>
                <a:latin typeface="210 마마블럭"/>
                <a:ea typeface="210 마마블럭"/>
                <a:cs typeface="210 마마블럭"/>
                <a:sym typeface="210 마마블럭"/>
              </a:rPr>
              <a:t> Ekstraksi Informasi Waktu</a:t>
            </a:r>
          </a:p>
          <a:p>
            <a:pPr algn="just">
              <a:lnSpc>
                <a:spcPts val="2448"/>
              </a:lnSpc>
              <a:spcBef>
                <a:spcPct val="0"/>
              </a:spcBef>
            </a:pPr>
            <a:r>
              <a:rPr lang="en-US" sz="2092">
                <a:solidFill>
                  <a:srgbClr val="000000"/>
                </a:solidFill>
                <a:latin typeface="210 마마블럭"/>
                <a:ea typeface="210 마마블럭"/>
                <a:cs typeface="210 마마블럭"/>
                <a:sym typeface="210 마마블럭"/>
              </a:rPr>
              <a:t>Dari kolom tanggal pembelian (Purchase Date), diturunkan informasi tambahan seperti month, day of week, week , dan day. Hal ini dilakukan untuk memperkaya fitur dan meningkatkan kualitas analisis atau prediksi berbasis waktu</a:t>
            </a:r>
          </a:p>
          <a:p>
            <a:pPr algn="ctr">
              <a:lnSpc>
                <a:spcPts val="2448"/>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67371" y="4494219"/>
            <a:ext cx="16553258" cy="1882933"/>
          </a:xfrm>
          <a:custGeom>
            <a:avLst/>
            <a:gdLst/>
            <a:ahLst/>
            <a:cxnLst/>
            <a:rect r="r" b="b" t="t" l="l"/>
            <a:pathLst>
              <a:path h="1882933" w="16553258">
                <a:moveTo>
                  <a:pt x="0" y="0"/>
                </a:moveTo>
                <a:lnTo>
                  <a:pt x="16553258" y="0"/>
                </a:lnTo>
                <a:lnTo>
                  <a:pt x="16553258" y="1882933"/>
                </a:lnTo>
                <a:lnTo>
                  <a:pt x="0" y="1882933"/>
                </a:lnTo>
                <a:lnTo>
                  <a:pt x="0" y="0"/>
                </a:lnTo>
                <a:close/>
              </a:path>
            </a:pathLst>
          </a:custGeom>
          <a:blipFill>
            <a:blip r:embed="rId6"/>
            <a:stretch>
              <a:fillRect l="0" t="0" r="0" b="0"/>
            </a:stretch>
          </a:blipFill>
        </p:spPr>
      </p:sp>
      <p:sp>
        <p:nvSpPr>
          <p:cNvPr name="TextBox 7" id="7"/>
          <p:cNvSpPr txBox="true"/>
          <p:nvPr/>
        </p:nvSpPr>
        <p:spPr>
          <a:xfrm rot="0">
            <a:off x="571835" y="3747329"/>
            <a:ext cx="9525" cy="498675"/>
          </a:xfrm>
          <a:prstGeom prst="rect">
            <a:avLst/>
          </a:prstGeom>
        </p:spPr>
        <p:txBody>
          <a:bodyPr anchor="t" rtlCol="false" tIns="0" lIns="0" bIns="0" rIns="0">
            <a:spAutoFit/>
          </a:bodyPr>
          <a:lstStyle/>
          <a:p>
            <a:pPr algn="l">
              <a:lnSpc>
                <a:spcPts val="3961"/>
              </a:lnSpc>
              <a:spcBef>
                <a:spcPct val="0"/>
              </a:spcBef>
            </a:pPr>
          </a:p>
        </p:txBody>
      </p:sp>
      <p:sp>
        <p:nvSpPr>
          <p:cNvPr name="TextBox 8" id="8"/>
          <p:cNvSpPr txBox="true"/>
          <p:nvPr/>
        </p:nvSpPr>
        <p:spPr>
          <a:xfrm rot="0">
            <a:off x="2347362" y="1531259"/>
            <a:ext cx="10473252" cy="745593"/>
          </a:xfrm>
          <a:prstGeom prst="rect">
            <a:avLst/>
          </a:prstGeom>
        </p:spPr>
        <p:txBody>
          <a:bodyPr anchor="t" rtlCol="false" tIns="0" lIns="0" bIns="0" rIns="0">
            <a:spAutoFit/>
          </a:bodyPr>
          <a:lstStyle/>
          <a:p>
            <a:pPr algn="ctr">
              <a:lnSpc>
                <a:spcPts val="5755"/>
              </a:lnSpc>
              <a:spcBef>
                <a:spcPct val="0"/>
              </a:spcBef>
            </a:pPr>
            <a:r>
              <a:rPr lang="en-US" sz="4919">
                <a:solidFill>
                  <a:srgbClr val="000000"/>
                </a:solidFill>
                <a:latin typeface="210 마마블럭"/>
                <a:ea typeface="210 마마블럭"/>
                <a:cs typeface="210 마마블럭"/>
                <a:sym typeface="210 마마블럭"/>
              </a:rPr>
              <a:t>DATA CLEANING PREPROCESSING RESULT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316647" y="1028700"/>
            <a:ext cx="17692278" cy="8813971"/>
          </a:xfrm>
          <a:custGeom>
            <a:avLst/>
            <a:gdLst/>
            <a:ahLst/>
            <a:cxnLst/>
            <a:rect r="r" b="b" t="t" l="l"/>
            <a:pathLst>
              <a:path h="8813971" w="17692278">
                <a:moveTo>
                  <a:pt x="0" y="0"/>
                </a:moveTo>
                <a:lnTo>
                  <a:pt x="17692279" y="0"/>
                </a:lnTo>
                <a:lnTo>
                  <a:pt x="17692279"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46088" y="2814325"/>
            <a:ext cx="11257761" cy="6402852"/>
          </a:xfrm>
          <a:custGeom>
            <a:avLst/>
            <a:gdLst/>
            <a:ahLst/>
            <a:cxnLst/>
            <a:rect r="r" b="b" t="t" l="l"/>
            <a:pathLst>
              <a:path h="6402852" w="11257761">
                <a:moveTo>
                  <a:pt x="0" y="0"/>
                </a:moveTo>
                <a:lnTo>
                  <a:pt x="11257761" y="0"/>
                </a:lnTo>
                <a:lnTo>
                  <a:pt x="11257761" y="6402851"/>
                </a:lnTo>
                <a:lnTo>
                  <a:pt x="0" y="6402851"/>
                </a:lnTo>
                <a:lnTo>
                  <a:pt x="0" y="0"/>
                </a:lnTo>
                <a:close/>
              </a:path>
            </a:pathLst>
          </a:custGeom>
          <a:blipFill>
            <a:blip r:embed="rId6"/>
            <a:stretch>
              <a:fillRect l="0" t="0" r="0" b="0"/>
            </a:stretch>
          </a:blipFill>
        </p:spPr>
      </p:sp>
      <p:sp>
        <p:nvSpPr>
          <p:cNvPr name="TextBox 7" id="7"/>
          <p:cNvSpPr txBox="true"/>
          <p:nvPr/>
        </p:nvSpPr>
        <p:spPr>
          <a:xfrm rot="0">
            <a:off x="2285994" y="1436798"/>
            <a:ext cx="11553486" cy="884241"/>
          </a:xfrm>
          <a:prstGeom prst="rect">
            <a:avLst/>
          </a:prstGeom>
        </p:spPr>
        <p:txBody>
          <a:bodyPr anchor="t" rtlCol="false" tIns="0" lIns="0" bIns="0" rIns="0">
            <a:spAutoFit/>
          </a:bodyPr>
          <a:lstStyle/>
          <a:p>
            <a:pPr algn="ctr">
              <a:lnSpc>
                <a:spcPts val="6826"/>
              </a:lnSpc>
              <a:spcBef>
                <a:spcPct val="0"/>
              </a:spcBef>
            </a:pPr>
            <a:r>
              <a:rPr lang="en-US" sz="5834">
                <a:solidFill>
                  <a:srgbClr val="000000"/>
                </a:solidFill>
                <a:latin typeface="210 마마블럭"/>
                <a:ea typeface="210 마마블럭"/>
                <a:cs typeface="210 마마블럭"/>
                <a:sym typeface="210 마마블럭"/>
              </a:rPr>
              <a:t>Sales Analysis (Daily Selling per Day) </a:t>
            </a:r>
          </a:p>
        </p:txBody>
      </p:sp>
      <p:sp>
        <p:nvSpPr>
          <p:cNvPr name="TextBox 8" id="8"/>
          <p:cNvSpPr txBox="true"/>
          <p:nvPr/>
        </p:nvSpPr>
        <p:spPr>
          <a:xfrm rot="0">
            <a:off x="12950902" y="3167472"/>
            <a:ext cx="4549276" cy="5477229"/>
          </a:xfrm>
          <a:prstGeom prst="rect">
            <a:avLst/>
          </a:prstGeom>
        </p:spPr>
        <p:txBody>
          <a:bodyPr anchor="t" rtlCol="false" tIns="0" lIns="0" bIns="0" rIns="0">
            <a:spAutoFit/>
          </a:bodyPr>
          <a:lstStyle/>
          <a:p>
            <a:pPr algn="l">
              <a:lnSpc>
                <a:spcPts val="2871"/>
              </a:lnSpc>
            </a:pPr>
            <a:r>
              <a:rPr lang="en-US" sz="2454">
                <a:solidFill>
                  <a:srgbClr val="000000"/>
                </a:solidFill>
                <a:latin typeface="210 마마블럭"/>
                <a:ea typeface="210 마마블럭"/>
                <a:cs typeface="210 마마블럭"/>
                <a:sym typeface="210 마마블럭"/>
              </a:rPr>
              <a:t>Sumbu horizontal pada grafik ini diberi label "Day" yang merepresentasikan rentang waktu dalam satu bulan, yaitu dari hari ke-1 hingga hari ke-30. Setiap titik pada sumbu ini menunjukkan satu hari tertentu dalam periode waktu tersebut. </a:t>
            </a:r>
          </a:p>
          <a:p>
            <a:pPr algn="l">
              <a:lnSpc>
                <a:spcPts val="2871"/>
              </a:lnSpc>
            </a:pPr>
          </a:p>
          <a:p>
            <a:pPr algn="l">
              <a:lnSpc>
                <a:spcPts val="2871"/>
              </a:lnSpc>
              <a:spcBef>
                <a:spcPct val="0"/>
              </a:spcBef>
            </a:pPr>
            <a:r>
              <a:rPr lang="en-US" sz="2454">
                <a:solidFill>
                  <a:srgbClr val="000000"/>
                </a:solidFill>
                <a:latin typeface="210 마마블럭"/>
                <a:ea typeface="210 마마블럭"/>
                <a:cs typeface="210 마마블럭"/>
                <a:sym typeface="210 마마블럭"/>
              </a:rPr>
              <a:t>Sumbu Vertical pada grafik ini diberi label "Total Sales", yang menunjukkan besarnya nilai penjualan yang dicapai setiap harinya selama periode 30 hari.</a:t>
            </a:r>
          </a:p>
          <a:p>
            <a:pPr algn="l">
              <a:lnSpc>
                <a:spcPts val="304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91734" y="2802844"/>
            <a:ext cx="10966469" cy="6292011"/>
          </a:xfrm>
          <a:custGeom>
            <a:avLst/>
            <a:gdLst/>
            <a:ahLst/>
            <a:cxnLst/>
            <a:rect r="r" b="b" t="t" l="l"/>
            <a:pathLst>
              <a:path h="6292011" w="10966469">
                <a:moveTo>
                  <a:pt x="0" y="0"/>
                </a:moveTo>
                <a:lnTo>
                  <a:pt x="10966469" y="0"/>
                </a:lnTo>
                <a:lnTo>
                  <a:pt x="10966469" y="6292011"/>
                </a:lnTo>
                <a:lnTo>
                  <a:pt x="0" y="6292011"/>
                </a:lnTo>
                <a:lnTo>
                  <a:pt x="0" y="0"/>
                </a:lnTo>
                <a:close/>
              </a:path>
            </a:pathLst>
          </a:custGeom>
          <a:blipFill>
            <a:blip r:embed="rId6"/>
            <a:stretch>
              <a:fillRect l="0" t="0" r="0" b="0"/>
            </a:stretch>
          </a:blipFill>
        </p:spPr>
      </p:sp>
      <p:sp>
        <p:nvSpPr>
          <p:cNvPr name="TextBox 7" id="7"/>
          <p:cNvSpPr txBox="true"/>
          <p:nvPr/>
        </p:nvSpPr>
        <p:spPr>
          <a:xfrm rot="0">
            <a:off x="4412286" y="1544776"/>
            <a:ext cx="8621762"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Sales Analysis (Weekly) </a:t>
            </a:r>
          </a:p>
        </p:txBody>
      </p:sp>
      <p:sp>
        <p:nvSpPr>
          <p:cNvPr name="TextBox 8" id="8"/>
          <p:cNvSpPr txBox="true"/>
          <p:nvPr/>
        </p:nvSpPr>
        <p:spPr>
          <a:xfrm rot="0">
            <a:off x="12723325" y="3457857"/>
            <a:ext cx="4385234" cy="4972460"/>
          </a:xfrm>
          <a:prstGeom prst="rect">
            <a:avLst/>
          </a:prstGeom>
        </p:spPr>
        <p:txBody>
          <a:bodyPr anchor="t" rtlCol="false" tIns="0" lIns="0" bIns="0" rIns="0">
            <a:spAutoFit/>
          </a:bodyPr>
          <a:lstStyle/>
          <a:p>
            <a:pPr algn="just">
              <a:lnSpc>
                <a:spcPts val="3050"/>
              </a:lnSpc>
            </a:pPr>
            <a:r>
              <a:rPr lang="en-US" sz="2607">
                <a:solidFill>
                  <a:srgbClr val="000000"/>
                </a:solidFill>
                <a:latin typeface="210 마마블럭"/>
                <a:ea typeface="210 마마블럭"/>
                <a:cs typeface="210 마마블럭"/>
                <a:sym typeface="210 마마블럭"/>
              </a:rPr>
              <a:t>Sumbu vertikal menunjukkan total penjualan dalam satuan nilai. Setiap bar pada diagram akan menunjukkan jumlah penjualan yang dicapai dalam minggu tertentu. </a:t>
            </a:r>
          </a:p>
          <a:p>
            <a:pPr algn="just">
              <a:lnSpc>
                <a:spcPts val="3050"/>
              </a:lnSpc>
            </a:pPr>
          </a:p>
          <a:p>
            <a:pPr algn="just">
              <a:lnSpc>
                <a:spcPts val="3050"/>
              </a:lnSpc>
            </a:pPr>
            <a:r>
              <a:rPr lang="en-US" sz="2607">
                <a:solidFill>
                  <a:srgbClr val="000000"/>
                </a:solidFill>
                <a:latin typeface="210 마마블럭"/>
                <a:ea typeface="210 마마블럭"/>
                <a:cs typeface="210 마마블럭"/>
                <a:sym typeface="210 마마블럭"/>
              </a:rPr>
              <a:t>Sumbu horizontal mewakili minggu-minggu dalam setahun. Diagram ini bertujuan untuk menunjukkan pola atau tren penjualan dari minggu ke minggu</a:t>
            </a:r>
          </a:p>
          <a:p>
            <a:pPr algn="ctr">
              <a:lnSpc>
                <a:spcPts val="305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316647" y="1028700"/>
            <a:ext cx="17692278" cy="8813971"/>
          </a:xfrm>
          <a:custGeom>
            <a:avLst/>
            <a:gdLst/>
            <a:ahLst/>
            <a:cxnLst/>
            <a:rect r="r" b="b" t="t" l="l"/>
            <a:pathLst>
              <a:path h="8813971" w="17692278">
                <a:moveTo>
                  <a:pt x="0" y="0"/>
                </a:moveTo>
                <a:lnTo>
                  <a:pt x="17692279" y="0"/>
                </a:lnTo>
                <a:lnTo>
                  <a:pt x="17692279"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2814325"/>
            <a:ext cx="9676570" cy="6096239"/>
          </a:xfrm>
          <a:custGeom>
            <a:avLst/>
            <a:gdLst/>
            <a:ahLst/>
            <a:cxnLst/>
            <a:rect r="r" b="b" t="t" l="l"/>
            <a:pathLst>
              <a:path h="6096239" w="9676570">
                <a:moveTo>
                  <a:pt x="0" y="0"/>
                </a:moveTo>
                <a:lnTo>
                  <a:pt x="9676570" y="0"/>
                </a:lnTo>
                <a:lnTo>
                  <a:pt x="9676570" y="6096239"/>
                </a:lnTo>
                <a:lnTo>
                  <a:pt x="0" y="6096239"/>
                </a:lnTo>
                <a:lnTo>
                  <a:pt x="0" y="0"/>
                </a:lnTo>
                <a:close/>
              </a:path>
            </a:pathLst>
          </a:custGeom>
          <a:blipFill>
            <a:blip r:embed="rId6"/>
            <a:stretch>
              <a:fillRect l="0" t="0" r="0" b="0"/>
            </a:stretch>
          </a:blipFill>
        </p:spPr>
      </p:sp>
      <p:sp>
        <p:nvSpPr>
          <p:cNvPr name="TextBox 7" id="7"/>
          <p:cNvSpPr txBox="true"/>
          <p:nvPr/>
        </p:nvSpPr>
        <p:spPr>
          <a:xfrm rot="0">
            <a:off x="2166191" y="1476333"/>
            <a:ext cx="11254987" cy="952998"/>
          </a:xfrm>
          <a:prstGeom prst="rect">
            <a:avLst/>
          </a:prstGeom>
        </p:spPr>
        <p:txBody>
          <a:bodyPr anchor="t" rtlCol="false" tIns="0" lIns="0" bIns="0" rIns="0">
            <a:spAutoFit/>
          </a:bodyPr>
          <a:lstStyle/>
          <a:p>
            <a:pPr algn="ctr">
              <a:lnSpc>
                <a:spcPts val="7430"/>
              </a:lnSpc>
              <a:spcBef>
                <a:spcPct val="0"/>
              </a:spcBef>
            </a:pPr>
            <a:r>
              <a:rPr lang="en-US" sz="6350">
                <a:solidFill>
                  <a:srgbClr val="000000"/>
                </a:solidFill>
                <a:latin typeface="210 마마블럭"/>
                <a:ea typeface="210 마마블럭"/>
                <a:cs typeface="210 마마블럭"/>
                <a:sym typeface="210 마마블럭"/>
              </a:rPr>
              <a:t>Sales Analysis (Day of the Week) </a:t>
            </a:r>
          </a:p>
        </p:txBody>
      </p:sp>
      <p:sp>
        <p:nvSpPr>
          <p:cNvPr name="TextBox 8" id="8"/>
          <p:cNvSpPr txBox="true"/>
          <p:nvPr/>
        </p:nvSpPr>
        <p:spPr>
          <a:xfrm rot="0">
            <a:off x="11217532" y="3163130"/>
            <a:ext cx="5783884" cy="5398629"/>
          </a:xfrm>
          <a:prstGeom prst="rect">
            <a:avLst/>
          </a:prstGeom>
        </p:spPr>
        <p:txBody>
          <a:bodyPr anchor="t" rtlCol="false" tIns="0" lIns="0" bIns="0" rIns="0">
            <a:spAutoFit/>
          </a:bodyPr>
          <a:lstStyle/>
          <a:p>
            <a:pPr algn="l">
              <a:lnSpc>
                <a:spcPts val="3278"/>
              </a:lnSpc>
            </a:pPr>
            <a:r>
              <a:rPr lang="en-US" sz="2802">
                <a:solidFill>
                  <a:srgbClr val="000000"/>
                </a:solidFill>
                <a:latin typeface="210 마마블럭"/>
                <a:ea typeface="210 마마블럭"/>
                <a:cs typeface="210 마마블럭"/>
                <a:sym typeface="210 마마블럭"/>
              </a:rPr>
              <a:t>Sumbu horizontal pada grafik ini diberi label "Day of Week", yang menampilkan nama hari dalam 1 minggu. Masing-masing bar merepresentasikan total penjualan yang terjadi pada masing-masing hari tersebut selama periode pengamatan.</a:t>
            </a:r>
          </a:p>
          <a:p>
            <a:pPr algn="l">
              <a:lnSpc>
                <a:spcPts val="3278"/>
              </a:lnSpc>
            </a:pPr>
            <a:r>
              <a:rPr lang="en-US" sz="2802">
                <a:solidFill>
                  <a:srgbClr val="000000"/>
                </a:solidFill>
                <a:latin typeface="210 마마블럭"/>
                <a:ea typeface="210 마마블럭"/>
                <a:cs typeface="210 마마블럭"/>
                <a:sym typeface="210 마마블럭"/>
              </a:rPr>
              <a:t> </a:t>
            </a:r>
          </a:p>
          <a:p>
            <a:pPr algn="l">
              <a:lnSpc>
                <a:spcPts val="3278"/>
              </a:lnSpc>
              <a:spcBef>
                <a:spcPct val="0"/>
              </a:spcBef>
            </a:pPr>
            <a:r>
              <a:rPr lang="en-US" sz="2802">
                <a:solidFill>
                  <a:srgbClr val="000000"/>
                </a:solidFill>
                <a:latin typeface="210 마마블럭"/>
                <a:ea typeface="210 마마블럭"/>
                <a:cs typeface="210 마마블럭"/>
                <a:sym typeface="210 마마블럭"/>
              </a:rPr>
              <a:t>Sumbu Vertical pada grafik ini diberi label "Total Sales",  yang menunjukkan volume penjualan kumulatif yang berhasil dicapai pada masing-masing hari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27214" y="2814325"/>
            <a:ext cx="10244959" cy="6223813"/>
          </a:xfrm>
          <a:custGeom>
            <a:avLst/>
            <a:gdLst/>
            <a:ahLst/>
            <a:cxnLst/>
            <a:rect r="r" b="b" t="t" l="l"/>
            <a:pathLst>
              <a:path h="6223813" w="10244959">
                <a:moveTo>
                  <a:pt x="0" y="0"/>
                </a:moveTo>
                <a:lnTo>
                  <a:pt x="10244959" y="0"/>
                </a:lnTo>
                <a:lnTo>
                  <a:pt x="10244959" y="6223812"/>
                </a:lnTo>
                <a:lnTo>
                  <a:pt x="0" y="6223812"/>
                </a:lnTo>
                <a:lnTo>
                  <a:pt x="0" y="0"/>
                </a:lnTo>
                <a:close/>
              </a:path>
            </a:pathLst>
          </a:custGeom>
          <a:blipFill>
            <a:blip r:embed="rId6"/>
            <a:stretch>
              <a:fillRect l="0" t="0" r="0" b="0"/>
            </a:stretch>
          </a:blipFill>
        </p:spPr>
      </p:sp>
      <p:sp>
        <p:nvSpPr>
          <p:cNvPr name="TextBox 7" id="7"/>
          <p:cNvSpPr txBox="true"/>
          <p:nvPr/>
        </p:nvSpPr>
        <p:spPr>
          <a:xfrm rot="0">
            <a:off x="6079579" y="1456929"/>
            <a:ext cx="5835848"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Product Analysis</a:t>
            </a:r>
          </a:p>
        </p:txBody>
      </p:sp>
      <p:sp>
        <p:nvSpPr>
          <p:cNvPr name="TextBox 8" id="8"/>
          <p:cNvSpPr txBox="true"/>
          <p:nvPr/>
        </p:nvSpPr>
        <p:spPr>
          <a:xfrm rot="0">
            <a:off x="11618349" y="3565287"/>
            <a:ext cx="5783884" cy="3740797"/>
          </a:xfrm>
          <a:prstGeom prst="rect">
            <a:avLst/>
          </a:prstGeom>
        </p:spPr>
        <p:txBody>
          <a:bodyPr anchor="t" rtlCol="false" tIns="0" lIns="0" bIns="0" rIns="0">
            <a:spAutoFit/>
          </a:bodyPr>
          <a:lstStyle/>
          <a:p>
            <a:pPr algn="l">
              <a:lnSpc>
                <a:spcPts val="3278"/>
              </a:lnSpc>
            </a:pPr>
            <a:r>
              <a:rPr lang="en-US" sz="2802">
                <a:solidFill>
                  <a:srgbClr val="000000"/>
                </a:solidFill>
                <a:latin typeface="210 마마블럭"/>
                <a:ea typeface="210 마마블럭"/>
                <a:cs typeface="210 마마블럭"/>
                <a:sym typeface="210 마마블럭"/>
              </a:rPr>
              <a:t>Sumbu vertical pada grafik ini diberi label "Total Quantity Sold", yang menampilkan total quantity yang terjual dari tiap product.</a:t>
            </a:r>
          </a:p>
          <a:p>
            <a:pPr algn="l">
              <a:lnSpc>
                <a:spcPts val="3278"/>
              </a:lnSpc>
            </a:pPr>
            <a:r>
              <a:rPr lang="en-US" sz="2802">
                <a:solidFill>
                  <a:srgbClr val="000000"/>
                </a:solidFill>
                <a:latin typeface="210 마마블럭"/>
                <a:ea typeface="210 마마블럭"/>
                <a:cs typeface="210 마마블럭"/>
                <a:sym typeface="210 마마블럭"/>
              </a:rPr>
              <a:t> </a:t>
            </a:r>
          </a:p>
          <a:p>
            <a:pPr algn="l">
              <a:lnSpc>
                <a:spcPts val="3278"/>
              </a:lnSpc>
              <a:spcBef>
                <a:spcPct val="0"/>
              </a:spcBef>
            </a:pPr>
            <a:r>
              <a:rPr lang="en-US" sz="2802">
                <a:solidFill>
                  <a:srgbClr val="000000"/>
                </a:solidFill>
                <a:latin typeface="210 마마블럭"/>
                <a:ea typeface="210 마마블럭"/>
                <a:cs typeface="210 마마블럭"/>
                <a:sym typeface="210 마마블럭"/>
              </a:rPr>
              <a:t>Sumbu horizontal pada grafik ini diberi label "Product Type",  yang menampilkan nama dari product yang terjual.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079727" y="1456929"/>
            <a:ext cx="5835551"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Product Analysis</a:t>
            </a:r>
          </a:p>
        </p:txBody>
      </p:sp>
      <p:sp>
        <p:nvSpPr>
          <p:cNvPr name="Freeform 7" id="7"/>
          <p:cNvSpPr/>
          <p:nvPr/>
        </p:nvSpPr>
        <p:spPr>
          <a:xfrm flipH="false" flipV="false" rot="0">
            <a:off x="1028700" y="2814325"/>
            <a:ext cx="13141204" cy="5979248"/>
          </a:xfrm>
          <a:custGeom>
            <a:avLst/>
            <a:gdLst/>
            <a:ahLst/>
            <a:cxnLst/>
            <a:rect r="r" b="b" t="t" l="l"/>
            <a:pathLst>
              <a:path h="5979248" w="13141204">
                <a:moveTo>
                  <a:pt x="0" y="0"/>
                </a:moveTo>
                <a:lnTo>
                  <a:pt x="13141204" y="0"/>
                </a:lnTo>
                <a:lnTo>
                  <a:pt x="13141204" y="5979248"/>
                </a:lnTo>
                <a:lnTo>
                  <a:pt x="0" y="5979248"/>
                </a:lnTo>
                <a:lnTo>
                  <a:pt x="0" y="0"/>
                </a:lnTo>
                <a:close/>
              </a:path>
            </a:pathLst>
          </a:custGeom>
          <a:blipFill>
            <a:blip r:embed="rId6"/>
            <a:stretch>
              <a:fillRect l="0" t="0" r="0" b="0"/>
            </a:stretch>
          </a:blipFill>
        </p:spPr>
      </p:sp>
      <p:sp>
        <p:nvSpPr>
          <p:cNvPr name="TextBox 8" id="8"/>
          <p:cNvSpPr txBox="true"/>
          <p:nvPr/>
        </p:nvSpPr>
        <p:spPr>
          <a:xfrm rot="0">
            <a:off x="12307052" y="5229225"/>
            <a:ext cx="5183268" cy="3723761"/>
          </a:xfrm>
          <a:prstGeom prst="rect">
            <a:avLst/>
          </a:prstGeom>
        </p:spPr>
        <p:txBody>
          <a:bodyPr anchor="t" rtlCol="false" tIns="0" lIns="0" bIns="0" rIns="0">
            <a:spAutoFit/>
          </a:bodyPr>
          <a:lstStyle/>
          <a:p>
            <a:pPr algn="l">
              <a:lnSpc>
                <a:spcPts val="2938"/>
              </a:lnSpc>
            </a:pPr>
            <a:r>
              <a:rPr lang="en-US" sz="2511">
                <a:solidFill>
                  <a:srgbClr val="000000"/>
                </a:solidFill>
                <a:latin typeface="210 마마블럭"/>
                <a:ea typeface="210 마마블럭"/>
                <a:cs typeface="210 마마블럭"/>
                <a:sym typeface="210 마마블럭"/>
              </a:rPr>
              <a:t>Sumbu vertikal pada grafik ini diberi label "Total Quantity Sold", yang menunjukkan total kuantitas produk yang terjual setiap minggu.</a:t>
            </a:r>
          </a:p>
          <a:p>
            <a:pPr algn="l">
              <a:lnSpc>
                <a:spcPts val="2938"/>
              </a:lnSpc>
            </a:pPr>
          </a:p>
          <a:p>
            <a:pPr algn="l">
              <a:lnSpc>
                <a:spcPts val="2938"/>
              </a:lnSpc>
            </a:pPr>
            <a:r>
              <a:rPr lang="en-US" sz="2511">
                <a:solidFill>
                  <a:srgbClr val="000000"/>
                </a:solidFill>
                <a:latin typeface="210 마마블럭"/>
                <a:ea typeface="210 마마블럭"/>
                <a:cs typeface="210 마마블럭"/>
                <a:sym typeface="210 마마블럭"/>
              </a:rPr>
              <a:t>Sumbu horizontal pada grafik ini diberi label "Week", yang menunjukkan minggu keberapa dalam setahun (dari minggu ke-1 hingga minggu ke-53).</a:t>
            </a:r>
          </a:p>
          <a:p>
            <a:pPr algn="l">
              <a:lnSpc>
                <a:spcPts val="2938"/>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56381" y="2814325"/>
            <a:ext cx="10589649" cy="6247893"/>
          </a:xfrm>
          <a:custGeom>
            <a:avLst/>
            <a:gdLst/>
            <a:ahLst/>
            <a:cxnLst/>
            <a:rect r="r" b="b" t="t" l="l"/>
            <a:pathLst>
              <a:path h="6247893" w="10589649">
                <a:moveTo>
                  <a:pt x="0" y="0"/>
                </a:moveTo>
                <a:lnTo>
                  <a:pt x="10589649" y="0"/>
                </a:lnTo>
                <a:lnTo>
                  <a:pt x="10589649" y="6247892"/>
                </a:lnTo>
                <a:lnTo>
                  <a:pt x="0" y="6247892"/>
                </a:lnTo>
                <a:lnTo>
                  <a:pt x="0" y="0"/>
                </a:lnTo>
                <a:close/>
              </a:path>
            </a:pathLst>
          </a:custGeom>
          <a:blipFill>
            <a:blip r:embed="rId6"/>
            <a:stretch>
              <a:fillRect l="0" t="0" r="0" b="0"/>
            </a:stretch>
          </a:blipFill>
        </p:spPr>
      </p:sp>
      <p:sp>
        <p:nvSpPr>
          <p:cNvPr name="TextBox 7" id="7"/>
          <p:cNvSpPr txBox="true"/>
          <p:nvPr/>
        </p:nvSpPr>
        <p:spPr>
          <a:xfrm rot="0">
            <a:off x="6079727" y="1456929"/>
            <a:ext cx="5835551"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Product Analysis</a:t>
            </a:r>
          </a:p>
        </p:txBody>
      </p:sp>
      <p:sp>
        <p:nvSpPr>
          <p:cNvPr name="TextBox 8" id="8"/>
          <p:cNvSpPr txBox="true"/>
          <p:nvPr/>
        </p:nvSpPr>
        <p:spPr>
          <a:xfrm rot="0">
            <a:off x="11915278" y="3430112"/>
            <a:ext cx="5774966" cy="4562668"/>
          </a:xfrm>
          <a:prstGeom prst="rect">
            <a:avLst/>
          </a:prstGeom>
        </p:spPr>
        <p:txBody>
          <a:bodyPr anchor="t" rtlCol="false" tIns="0" lIns="0" bIns="0" rIns="0">
            <a:spAutoFit/>
          </a:bodyPr>
          <a:lstStyle/>
          <a:p>
            <a:pPr algn="l">
              <a:lnSpc>
                <a:spcPts val="3273"/>
              </a:lnSpc>
            </a:pPr>
            <a:r>
              <a:rPr lang="en-US" sz="2797">
                <a:solidFill>
                  <a:srgbClr val="000000"/>
                </a:solidFill>
                <a:latin typeface="210 마마블럭"/>
                <a:ea typeface="210 마마블럭"/>
                <a:cs typeface="210 마마블럭"/>
                <a:sym typeface="210 마마블럭"/>
              </a:rPr>
              <a:t>Sumbu vertikal diberi label "Total Price", yang menunjukkan total pendapatan kumulatif yang dihasilkan oleh masing-masing jenis produk sepanjang tahun.</a:t>
            </a:r>
          </a:p>
          <a:p>
            <a:pPr algn="l">
              <a:lnSpc>
                <a:spcPts val="3273"/>
              </a:lnSpc>
            </a:pPr>
          </a:p>
          <a:p>
            <a:pPr algn="l">
              <a:lnSpc>
                <a:spcPts val="3273"/>
              </a:lnSpc>
            </a:pPr>
            <a:r>
              <a:rPr lang="en-US" sz="2797">
                <a:solidFill>
                  <a:srgbClr val="000000"/>
                </a:solidFill>
                <a:latin typeface="210 마마블럭"/>
                <a:ea typeface="210 마마블럭"/>
                <a:cs typeface="210 마마블럭"/>
                <a:sym typeface="210 마마블럭"/>
              </a:rPr>
              <a:t>Sumbu horizontal diberi label "Product Type", yang menampilkan kategori produk: Smartphone, Tablet, Laptop, Smartwatch, dan Headphones.</a:t>
            </a:r>
          </a:p>
          <a:p>
            <a:pPr algn="l">
              <a:lnSpc>
                <a:spcPts val="3273"/>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7335" y="2928219"/>
            <a:ext cx="13615524" cy="6041889"/>
          </a:xfrm>
          <a:custGeom>
            <a:avLst/>
            <a:gdLst/>
            <a:ahLst/>
            <a:cxnLst/>
            <a:rect r="r" b="b" t="t" l="l"/>
            <a:pathLst>
              <a:path h="6041889" w="13615524">
                <a:moveTo>
                  <a:pt x="0" y="0"/>
                </a:moveTo>
                <a:lnTo>
                  <a:pt x="13615524" y="0"/>
                </a:lnTo>
                <a:lnTo>
                  <a:pt x="13615524" y="6041889"/>
                </a:lnTo>
                <a:lnTo>
                  <a:pt x="0" y="6041889"/>
                </a:lnTo>
                <a:lnTo>
                  <a:pt x="0" y="0"/>
                </a:lnTo>
                <a:close/>
              </a:path>
            </a:pathLst>
          </a:custGeom>
          <a:blipFill>
            <a:blip r:embed="rId6"/>
            <a:stretch>
              <a:fillRect l="0" t="0" r="0" b="0"/>
            </a:stretch>
          </a:blipFill>
        </p:spPr>
      </p:sp>
      <p:sp>
        <p:nvSpPr>
          <p:cNvPr name="TextBox 7" id="7"/>
          <p:cNvSpPr txBox="true"/>
          <p:nvPr/>
        </p:nvSpPr>
        <p:spPr>
          <a:xfrm rot="0">
            <a:off x="6079727" y="1456929"/>
            <a:ext cx="5835551"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Product Analysis</a:t>
            </a:r>
          </a:p>
        </p:txBody>
      </p:sp>
      <p:sp>
        <p:nvSpPr>
          <p:cNvPr name="TextBox 8" id="8"/>
          <p:cNvSpPr txBox="true"/>
          <p:nvPr/>
        </p:nvSpPr>
        <p:spPr>
          <a:xfrm rot="0">
            <a:off x="12652520" y="5322758"/>
            <a:ext cx="5076907" cy="3647349"/>
          </a:xfrm>
          <a:prstGeom prst="rect">
            <a:avLst/>
          </a:prstGeom>
        </p:spPr>
        <p:txBody>
          <a:bodyPr anchor="t" rtlCol="false" tIns="0" lIns="0" bIns="0" rIns="0">
            <a:spAutoFit/>
          </a:bodyPr>
          <a:lstStyle/>
          <a:p>
            <a:pPr algn="l">
              <a:lnSpc>
                <a:spcPts val="2877"/>
              </a:lnSpc>
            </a:pPr>
            <a:r>
              <a:rPr lang="en-US" sz="2459">
                <a:solidFill>
                  <a:srgbClr val="000000"/>
                </a:solidFill>
                <a:latin typeface="210 마마블럭"/>
                <a:ea typeface="210 마마블럭"/>
                <a:cs typeface="210 마마블럭"/>
                <a:sym typeface="210 마마블럭"/>
              </a:rPr>
              <a:t>Sumbu vertikal pada grafik ini diberi label "Total Revenue", yang menunjukkan total pendapatan yang dihasilkan dari penjualan setiap produk dalam satu minggu.</a:t>
            </a:r>
          </a:p>
          <a:p>
            <a:pPr algn="l">
              <a:lnSpc>
                <a:spcPts val="2877"/>
              </a:lnSpc>
            </a:pPr>
          </a:p>
          <a:p>
            <a:pPr algn="l">
              <a:lnSpc>
                <a:spcPts val="2877"/>
              </a:lnSpc>
            </a:pPr>
            <a:r>
              <a:rPr lang="en-US" sz="2459">
                <a:solidFill>
                  <a:srgbClr val="000000"/>
                </a:solidFill>
                <a:latin typeface="210 마마블럭"/>
                <a:ea typeface="210 마마블럭"/>
                <a:cs typeface="210 마마블럭"/>
                <a:sym typeface="210 마마블럭"/>
              </a:rPr>
              <a:t>Sumbu horizontal diberi label "Week", yang menunjukkan minggu keberapa dalam satu tahun (1–53).</a:t>
            </a:r>
          </a:p>
          <a:p>
            <a:pPr algn="l">
              <a:lnSpc>
                <a:spcPts val="2877"/>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98111" y="6396083"/>
            <a:ext cx="6236309" cy="2419333"/>
          </a:xfrm>
          <a:custGeom>
            <a:avLst/>
            <a:gdLst/>
            <a:ahLst/>
            <a:cxnLst/>
            <a:rect r="r" b="b" t="t" l="l"/>
            <a:pathLst>
              <a:path h="2419333" w="6236309">
                <a:moveTo>
                  <a:pt x="0" y="0"/>
                </a:moveTo>
                <a:lnTo>
                  <a:pt x="6236309" y="0"/>
                </a:lnTo>
                <a:lnTo>
                  <a:pt x="6236309" y="2419333"/>
                </a:lnTo>
                <a:lnTo>
                  <a:pt x="0" y="2419333"/>
                </a:lnTo>
                <a:lnTo>
                  <a:pt x="0" y="0"/>
                </a:lnTo>
                <a:close/>
              </a:path>
            </a:pathLst>
          </a:custGeom>
          <a:blipFill>
            <a:blip r:embed="rId6"/>
            <a:stretch>
              <a:fillRect l="-17692" t="-26258" r="-6076" b="-8752"/>
            </a:stretch>
          </a:blipFill>
        </p:spPr>
      </p:sp>
      <p:sp>
        <p:nvSpPr>
          <p:cNvPr name="Freeform 7" id="7"/>
          <p:cNvSpPr/>
          <p:nvPr/>
        </p:nvSpPr>
        <p:spPr>
          <a:xfrm flipH="false" flipV="false" rot="0">
            <a:off x="2198111" y="3327582"/>
            <a:ext cx="6236309" cy="2304723"/>
          </a:xfrm>
          <a:custGeom>
            <a:avLst/>
            <a:gdLst/>
            <a:ahLst/>
            <a:cxnLst/>
            <a:rect r="r" b="b" t="t" l="l"/>
            <a:pathLst>
              <a:path h="2304723" w="6236309">
                <a:moveTo>
                  <a:pt x="0" y="0"/>
                </a:moveTo>
                <a:lnTo>
                  <a:pt x="6236309" y="0"/>
                </a:lnTo>
                <a:lnTo>
                  <a:pt x="6236309" y="2304723"/>
                </a:lnTo>
                <a:lnTo>
                  <a:pt x="0" y="2304723"/>
                </a:lnTo>
                <a:lnTo>
                  <a:pt x="0" y="0"/>
                </a:lnTo>
                <a:close/>
              </a:path>
            </a:pathLst>
          </a:custGeom>
          <a:blipFill>
            <a:blip r:embed="rId7"/>
            <a:stretch>
              <a:fillRect l="0" t="0" r="0" b="0"/>
            </a:stretch>
          </a:blipFill>
        </p:spPr>
      </p:sp>
      <p:sp>
        <p:nvSpPr>
          <p:cNvPr name="TextBox 8" id="8"/>
          <p:cNvSpPr txBox="true"/>
          <p:nvPr/>
        </p:nvSpPr>
        <p:spPr>
          <a:xfrm rot="0">
            <a:off x="5446985" y="1456929"/>
            <a:ext cx="7101036"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Performance Metrics</a:t>
            </a:r>
          </a:p>
        </p:txBody>
      </p:sp>
      <p:sp>
        <p:nvSpPr>
          <p:cNvPr name="TextBox 9" id="9"/>
          <p:cNvSpPr txBox="true"/>
          <p:nvPr/>
        </p:nvSpPr>
        <p:spPr>
          <a:xfrm rot="0">
            <a:off x="9775658" y="3461186"/>
            <a:ext cx="6605563" cy="4725914"/>
          </a:xfrm>
          <a:prstGeom prst="rect">
            <a:avLst/>
          </a:prstGeom>
        </p:spPr>
        <p:txBody>
          <a:bodyPr anchor="t" rtlCol="false" tIns="0" lIns="0" bIns="0" rIns="0">
            <a:spAutoFit/>
          </a:bodyPr>
          <a:lstStyle/>
          <a:p>
            <a:pPr algn="l">
              <a:lnSpc>
                <a:spcPts val="3389"/>
              </a:lnSpc>
            </a:pPr>
            <a:r>
              <a:rPr lang="en-US" sz="2897">
                <a:solidFill>
                  <a:srgbClr val="000000"/>
                </a:solidFill>
                <a:latin typeface="210 마마블럭"/>
                <a:ea typeface="210 마마블럭"/>
                <a:cs typeface="210 마마블럭"/>
                <a:sym typeface="210 마마블럭"/>
              </a:rPr>
              <a:t>Dalam proyek ini model yang digunakan dalah XGBoost dimana ini merupakan sebuah model yang dipakai untuk pemodelan supervised learning berbasis decision tree.</a:t>
            </a:r>
          </a:p>
          <a:p>
            <a:pPr algn="l">
              <a:lnSpc>
                <a:spcPts val="3389"/>
              </a:lnSpc>
            </a:pPr>
          </a:p>
          <a:p>
            <a:pPr algn="l">
              <a:lnSpc>
                <a:spcPts val="3389"/>
              </a:lnSpc>
              <a:spcBef>
                <a:spcPct val="0"/>
              </a:spcBef>
            </a:pPr>
            <a:r>
              <a:rPr lang="en-US" sz="2897">
                <a:solidFill>
                  <a:srgbClr val="000000"/>
                </a:solidFill>
                <a:latin typeface="210 마마블럭"/>
                <a:ea typeface="210 마마블럭"/>
                <a:cs typeface="210 마마블럭"/>
                <a:sym typeface="210 마마블럭"/>
              </a:rPr>
              <a:t>XGboost dipakai, karena dalam kasus ini tugas utamanya adalah prediksi numerik yang memprediksi jumlah penjualan harian dari produk-produk berdasarkan data historis.</a:t>
            </a:r>
          </a:p>
        </p:txBody>
      </p:sp>
      <p:sp>
        <p:nvSpPr>
          <p:cNvPr name="TextBox 10" id="10"/>
          <p:cNvSpPr txBox="true"/>
          <p:nvPr/>
        </p:nvSpPr>
        <p:spPr>
          <a:xfrm rot="0">
            <a:off x="4379653" y="2656446"/>
            <a:ext cx="1873225"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LSTM</a:t>
            </a:r>
          </a:p>
        </p:txBody>
      </p:sp>
      <p:sp>
        <p:nvSpPr>
          <p:cNvPr name="TextBox 11" id="11"/>
          <p:cNvSpPr txBox="true"/>
          <p:nvPr/>
        </p:nvSpPr>
        <p:spPr>
          <a:xfrm rot="0">
            <a:off x="3725995" y="5641830"/>
            <a:ext cx="2984302"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XGBoost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88219" y="2814325"/>
            <a:ext cx="4089377" cy="6080858"/>
          </a:xfrm>
          <a:custGeom>
            <a:avLst/>
            <a:gdLst/>
            <a:ahLst/>
            <a:cxnLst/>
            <a:rect r="r" b="b" t="t" l="l"/>
            <a:pathLst>
              <a:path h="6080858" w="4089377">
                <a:moveTo>
                  <a:pt x="0" y="0"/>
                </a:moveTo>
                <a:lnTo>
                  <a:pt x="4089377" y="0"/>
                </a:lnTo>
                <a:lnTo>
                  <a:pt x="4089377" y="6080857"/>
                </a:lnTo>
                <a:lnTo>
                  <a:pt x="0" y="6080857"/>
                </a:lnTo>
                <a:lnTo>
                  <a:pt x="0" y="0"/>
                </a:lnTo>
                <a:close/>
              </a:path>
            </a:pathLst>
          </a:custGeom>
          <a:blipFill>
            <a:blip r:embed="rId6"/>
            <a:stretch>
              <a:fillRect l="0" t="0" r="0" b="0"/>
            </a:stretch>
          </a:blipFill>
        </p:spPr>
      </p:sp>
      <p:sp>
        <p:nvSpPr>
          <p:cNvPr name="Freeform 7" id="7"/>
          <p:cNvSpPr/>
          <p:nvPr/>
        </p:nvSpPr>
        <p:spPr>
          <a:xfrm flipH="false" flipV="false" rot="0">
            <a:off x="5780028" y="4366423"/>
            <a:ext cx="5154217" cy="2976660"/>
          </a:xfrm>
          <a:custGeom>
            <a:avLst/>
            <a:gdLst/>
            <a:ahLst/>
            <a:cxnLst/>
            <a:rect r="r" b="b" t="t" l="l"/>
            <a:pathLst>
              <a:path h="2976660" w="5154217">
                <a:moveTo>
                  <a:pt x="0" y="0"/>
                </a:moveTo>
                <a:lnTo>
                  <a:pt x="5154217" y="0"/>
                </a:lnTo>
                <a:lnTo>
                  <a:pt x="5154217" y="2976661"/>
                </a:lnTo>
                <a:lnTo>
                  <a:pt x="0" y="2976661"/>
                </a:lnTo>
                <a:lnTo>
                  <a:pt x="0" y="0"/>
                </a:lnTo>
                <a:close/>
              </a:path>
            </a:pathLst>
          </a:custGeom>
          <a:blipFill>
            <a:blip r:embed="rId7"/>
            <a:stretch>
              <a:fillRect l="0" t="0" r="0" b="0"/>
            </a:stretch>
          </a:blipFill>
        </p:spPr>
      </p:sp>
      <p:sp>
        <p:nvSpPr>
          <p:cNvPr name="TextBox 8" id="8"/>
          <p:cNvSpPr txBox="true"/>
          <p:nvPr/>
        </p:nvSpPr>
        <p:spPr>
          <a:xfrm rot="0">
            <a:off x="6827639" y="1510353"/>
            <a:ext cx="4632722" cy="1997219"/>
          </a:xfrm>
          <a:prstGeom prst="rect">
            <a:avLst/>
          </a:prstGeom>
        </p:spPr>
        <p:txBody>
          <a:bodyPr anchor="t" rtlCol="false" tIns="0" lIns="0" bIns="0" rIns="0">
            <a:spAutoFit/>
          </a:bodyPr>
          <a:lstStyle/>
          <a:p>
            <a:pPr algn="ctr">
              <a:lnSpc>
                <a:spcPts val="7844"/>
              </a:lnSpc>
            </a:pPr>
            <a:r>
              <a:rPr lang="en-US" sz="6704">
                <a:solidFill>
                  <a:srgbClr val="000000"/>
                </a:solidFill>
                <a:latin typeface="210 마마블럭"/>
                <a:ea typeface="210 마마블럭"/>
                <a:cs typeface="210 마마블럭"/>
                <a:sym typeface="210 마마블럭"/>
              </a:rPr>
              <a:t>Model Output</a:t>
            </a:r>
          </a:p>
          <a:p>
            <a:pPr algn="ctr">
              <a:lnSpc>
                <a:spcPts val="7844"/>
              </a:lnSpc>
              <a:spcBef>
                <a:spcPct val="0"/>
              </a:spcBef>
            </a:pPr>
          </a:p>
        </p:txBody>
      </p:sp>
      <p:sp>
        <p:nvSpPr>
          <p:cNvPr name="TextBox 9" id="9"/>
          <p:cNvSpPr txBox="true"/>
          <p:nvPr/>
        </p:nvSpPr>
        <p:spPr>
          <a:xfrm rot="0">
            <a:off x="11618349" y="3498047"/>
            <a:ext cx="5278737" cy="5156286"/>
          </a:xfrm>
          <a:prstGeom prst="rect">
            <a:avLst/>
          </a:prstGeom>
        </p:spPr>
        <p:txBody>
          <a:bodyPr anchor="t" rtlCol="false" tIns="0" lIns="0" bIns="0" rIns="0">
            <a:spAutoFit/>
          </a:bodyPr>
          <a:lstStyle/>
          <a:p>
            <a:pPr algn="l">
              <a:lnSpc>
                <a:spcPts val="2708"/>
              </a:lnSpc>
            </a:pPr>
            <a:r>
              <a:rPr lang="en-US" sz="2315">
                <a:solidFill>
                  <a:srgbClr val="000000"/>
                </a:solidFill>
                <a:latin typeface="210 마마블럭"/>
                <a:ea typeface="210 마마블럭"/>
                <a:cs typeface="210 마마블럭"/>
                <a:sym typeface="210 마마블럭"/>
              </a:rPr>
              <a:t>Tujuan dari model ini adalah untuk memperkirakan jumlah penjualan harian dari masing-masing jenis produk selama tujuh hari ke depan, berdasarkan data historis dan pola yang telah dianalisis dari dataset.</a:t>
            </a:r>
          </a:p>
          <a:p>
            <a:pPr algn="l">
              <a:lnSpc>
                <a:spcPts val="2708"/>
              </a:lnSpc>
            </a:pPr>
          </a:p>
          <a:p>
            <a:pPr algn="l">
              <a:lnSpc>
                <a:spcPts val="2708"/>
              </a:lnSpc>
            </a:pPr>
            <a:r>
              <a:rPr lang="en-US" sz="2315">
                <a:solidFill>
                  <a:srgbClr val="000000"/>
                </a:solidFill>
                <a:latin typeface="210 마마블럭"/>
                <a:ea typeface="210 마마블럭"/>
                <a:cs typeface="210 마마블럭"/>
                <a:sym typeface="210 마마블럭"/>
              </a:rPr>
              <a:t>Di dalam output terdapat prediksi kuantitas penjualan harian untuk produk-produl elektronik yang dijual.</a:t>
            </a:r>
          </a:p>
          <a:p>
            <a:pPr algn="l">
              <a:lnSpc>
                <a:spcPts val="2708"/>
              </a:lnSpc>
            </a:pPr>
            <a:r>
              <a:rPr lang="en-US" sz="2315">
                <a:solidFill>
                  <a:srgbClr val="000000"/>
                </a:solidFill>
                <a:latin typeface="210 마마블럭"/>
                <a:ea typeface="210 마마블럭"/>
                <a:cs typeface="210 마마블럭"/>
                <a:sym typeface="210 마마블럭"/>
              </a:rPr>
              <a:t>Dan juga terdapat daftar produk yang terlaris berdasakan total penjualan historis dimana outputnya menunjukan bahwa smartphone merupakan produk dengan penjualan terlaris.</a:t>
            </a:r>
          </a:p>
          <a:p>
            <a:pPr algn="l">
              <a:lnSpc>
                <a:spcPts val="2708"/>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832089" y="3146212"/>
            <a:ext cx="14623823" cy="5619094"/>
          </a:xfrm>
          <a:custGeom>
            <a:avLst/>
            <a:gdLst/>
            <a:ahLst/>
            <a:cxnLst/>
            <a:rect r="r" b="b" t="t" l="l"/>
            <a:pathLst>
              <a:path h="5619094" w="14623823">
                <a:moveTo>
                  <a:pt x="0" y="0"/>
                </a:moveTo>
                <a:lnTo>
                  <a:pt x="14623822" y="0"/>
                </a:lnTo>
                <a:lnTo>
                  <a:pt x="14623822" y="5619095"/>
                </a:lnTo>
                <a:lnTo>
                  <a:pt x="0" y="5619095"/>
                </a:lnTo>
                <a:lnTo>
                  <a:pt x="0" y="0"/>
                </a:lnTo>
                <a:close/>
              </a:path>
            </a:pathLst>
          </a:custGeom>
          <a:blipFill>
            <a:blip r:embed="rId6"/>
            <a:stretch>
              <a:fillRect l="0" t="-1064" r="0" b="-6289"/>
            </a:stretch>
          </a:blipFill>
        </p:spPr>
      </p:sp>
      <p:sp>
        <p:nvSpPr>
          <p:cNvPr name="TextBox 7" id="7"/>
          <p:cNvSpPr txBox="true"/>
          <p:nvPr/>
        </p:nvSpPr>
        <p:spPr>
          <a:xfrm rot="0">
            <a:off x="5978122" y="1412981"/>
            <a:ext cx="5736034"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Model Prediction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91745" y="2814325"/>
            <a:ext cx="14357818" cy="5976418"/>
          </a:xfrm>
          <a:custGeom>
            <a:avLst/>
            <a:gdLst/>
            <a:ahLst/>
            <a:cxnLst/>
            <a:rect r="r" b="b" t="t" l="l"/>
            <a:pathLst>
              <a:path h="5976418" w="14357818">
                <a:moveTo>
                  <a:pt x="0" y="0"/>
                </a:moveTo>
                <a:lnTo>
                  <a:pt x="14357818" y="0"/>
                </a:lnTo>
                <a:lnTo>
                  <a:pt x="14357818" y="5976418"/>
                </a:lnTo>
                <a:lnTo>
                  <a:pt x="0" y="5976418"/>
                </a:lnTo>
                <a:lnTo>
                  <a:pt x="0" y="0"/>
                </a:lnTo>
                <a:close/>
              </a:path>
            </a:pathLst>
          </a:custGeom>
          <a:blipFill>
            <a:blip r:embed="rId6"/>
            <a:stretch>
              <a:fillRect l="-2003" t="-542" r="0" b="-542"/>
            </a:stretch>
          </a:blipFill>
        </p:spPr>
      </p:sp>
      <p:sp>
        <p:nvSpPr>
          <p:cNvPr name="TextBox 7" id="7"/>
          <p:cNvSpPr txBox="true"/>
          <p:nvPr/>
        </p:nvSpPr>
        <p:spPr>
          <a:xfrm rot="0">
            <a:off x="5978122" y="1412981"/>
            <a:ext cx="5736034"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Model Prediction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20734" y="2814325"/>
            <a:ext cx="14850811" cy="6173616"/>
          </a:xfrm>
          <a:custGeom>
            <a:avLst/>
            <a:gdLst/>
            <a:ahLst/>
            <a:cxnLst/>
            <a:rect r="r" b="b" t="t" l="l"/>
            <a:pathLst>
              <a:path h="6173616" w="14850811">
                <a:moveTo>
                  <a:pt x="0" y="0"/>
                </a:moveTo>
                <a:lnTo>
                  <a:pt x="14850811" y="0"/>
                </a:lnTo>
                <a:lnTo>
                  <a:pt x="14850811" y="6173615"/>
                </a:lnTo>
                <a:lnTo>
                  <a:pt x="0" y="6173615"/>
                </a:lnTo>
                <a:lnTo>
                  <a:pt x="0" y="0"/>
                </a:lnTo>
                <a:close/>
              </a:path>
            </a:pathLst>
          </a:custGeom>
          <a:blipFill>
            <a:blip r:embed="rId6"/>
            <a:stretch>
              <a:fillRect l="-1571" t="0" r="-1571" b="-2347"/>
            </a:stretch>
          </a:blipFill>
        </p:spPr>
      </p:sp>
      <p:sp>
        <p:nvSpPr>
          <p:cNvPr name="TextBox 7" id="7"/>
          <p:cNvSpPr txBox="true"/>
          <p:nvPr/>
        </p:nvSpPr>
        <p:spPr>
          <a:xfrm rot="0">
            <a:off x="5978122" y="1412981"/>
            <a:ext cx="5736034"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Model Prediction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467" y="2814325"/>
            <a:ext cx="14951223" cy="6151617"/>
          </a:xfrm>
          <a:custGeom>
            <a:avLst/>
            <a:gdLst/>
            <a:ahLst/>
            <a:cxnLst/>
            <a:rect r="r" b="b" t="t" l="l"/>
            <a:pathLst>
              <a:path h="6151617" w="14951223">
                <a:moveTo>
                  <a:pt x="0" y="0"/>
                </a:moveTo>
                <a:lnTo>
                  <a:pt x="14951223" y="0"/>
                </a:lnTo>
                <a:lnTo>
                  <a:pt x="14951223" y="6151617"/>
                </a:lnTo>
                <a:lnTo>
                  <a:pt x="0" y="6151617"/>
                </a:lnTo>
                <a:lnTo>
                  <a:pt x="0" y="0"/>
                </a:lnTo>
                <a:close/>
              </a:path>
            </a:pathLst>
          </a:custGeom>
          <a:blipFill>
            <a:blip r:embed="rId6"/>
            <a:stretch>
              <a:fillRect l="-1279" t="0" r="-387" b="-1927"/>
            </a:stretch>
          </a:blipFill>
        </p:spPr>
      </p:sp>
      <p:sp>
        <p:nvSpPr>
          <p:cNvPr name="TextBox 7" id="7"/>
          <p:cNvSpPr txBox="true"/>
          <p:nvPr/>
        </p:nvSpPr>
        <p:spPr>
          <a:xfrm rot="0">
            <a:off x="5978122" y="1412981"/>
            <a:ext cx="5736034"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Model Prediction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0"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2814325"/>
            <a:ext cx="15838314" cy="6443975"/>
          </a:xfrm>
          <a:custGeom>
            <a:avLst/>
            <a:gdLst/>
            <a:ahLst/>
            <a:cxnLst/>
            <a:rect r="r" b="b" t="t" l="l"/>
            <a:pathLst>
              <a:path h="6443975" w="15838314">
                <a:moveTo>
                  <a:pt x="0" y="0"/>
                </a:moveTo>
                <a:lnTo>
                  <a:pt x="15838314" y="0"/>
                </a:lnTo>
                <a:lnTo>
                  <a:pt x="15838314" y="6443975"/>
                </a:lnTo>
                <a:lnTo>
                  <a:pt x="0" y="6443975"/>
                </a:lnTo>
                <a:lnTo>
                  <a:pt x="0" y="0"/>
                </a:lnTo>
                <a:close/>
              </a:path>
            </a:pathLst>
          </a:custGeom>
          <a:blipFill>
            <a:blip r:embed="rId6"/>
            <a:stretch>
              <a:fillRect l="-844" t="-1633" r="0" b="-608"/>
            </a:stretch>
          </a:blipFill>
        </p:spPr>
      </p:sp>
      <p:sp>
        <p:nvSpPr>
          <p:cNvPr name="TextBox 7" id="7"/>
          <p:cNvSpPr txBox="true"/>
          <p:nvPr/>
        </p:nvSpPr>
        <p:spPr>
          <a:xfrm rot="0">
            <a:off x="5978122" y="1412981"/>
            <a:ext cx="5736034" cy="1006619"/>
          </a:xfrm>
          <a:prstGeom prst="rect">
            <a:avLst/>
          </a:prstGeom>
        </p:spPr>
        <p:txBody>
          <a:bodyPr anchor="t" rtlCol="false" tIns="0" lIns="0" bIns="0" rIns="0">
            <a:spAutoFit/>
          </a:bodyPr>
          <a:lstStyle/>
          <a:p>
            <a:pPr algn="ctr">
              <a:lnSpc>
                <a:spcPts val="7844"/>
              </a:lnSpc>
              <a:spcBef>
                <a:spcPct val="0"/>
              </a:spcBef>
            </a:pPr>
            <a:r>
              <a:rPr lang="en-US" sz="6704">
                <a:solidFill>
                  <a:srgbClr val="000000"/>
                </a:solidFill>
                <a:latin typeface="210 마마블럭"/>
                <a:ea typeface="210 마마블럭"/>
                <a:cs typeface="210 마마블럭"/>
                <a:sym typeface="210 마마블럭"/>
              </a:rPr>
              <a:t>Model Prediction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7460" y="-1208173"/>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4" id="4"/>
          <p:cNvSpPr/>
          <p:nvPr/>
        </p:nvSpPr>
        <p:spPr>
          <a:xfrm flipH="false" flipV="false" rot="0">
            <a:off x="11618349" y="8275751"/>
            <a:ext cx="8262428" cy="4022498"/>
          </a:xfrm>
          <a:custGeom>
            <a:avLst/>
            <a:gdLst/>
            <a:ahLst/>
            <a:cxnLst/>
            <a:rect r="r" b="b" t="t" l="l"/>
            <a:pathLst>
              <a:path h="4022498" w="8262428">
                <a:moveTo>
                  <a:pt x="0" y="0"/>
                </a:moveTo>
                <a:lnTo>
                  <a:pt x="8262428" y="0"/>
                </a:lnTo>
                <a:lnTo>
                  <a:pt x="8262428" y="4022498"/>
                </a:lnTo>
                <a:lnTo>
                  <a:pt x="0" y="4022498"/>
                </a:lnTo>
                <a:lnTo>
                  <a:pt x="0" y="0"/>
                </a:lnTo>
                <a:close/>
              </a:path>
            </a:pathLst>
          </a:custGeom>
          <a:blipFill>
            <a:blip r:embed="rId3"/>
            <a:stretch>
              <a:fillRect l="0" t="0" r="0" b="0"/>
            </a:stretch>
          </a:blipFill>
        </p:spPr>
      </p:sp>
      <p:sp>
        <p:nvSpPr>
          <p:cNvPr name="Freeform 5" id="5"/>
          <p:cNvSpPr/>
          <p:nvPr/>
        </p:nvSpPr>
        <p:spPr>
          <a:xfrm flipH="false" flipV="false" rot="0">
            <a:off x="297861" y="1028700"/>
            <a:ext cx="17692278" cy="8813971"/>
          </a:xfrm>
          <a:custGeom>
            <a:avLst/>
            <a:gdLst/>
            <a:ahLst/>
            <a:cxnLst/>
            <a:rect r="r" b="b" t="t" l="l"/>
            <a:pathLst>
              <a:path h="8813971" w="17692278">
                <a:moveTo>
                  <a:pt x="0" y="0"/>
                </a:moveTo>
                <a:lnTo>
                  <a:pt x="17692278" y="0"/>
                </a:lnTo>
                <a:lnTo>
                  <a:pt x="17692278" y="8813971"/>
                </a:lnTo>
                <a:lnTo>
                  <a:pt x="0" y="8813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256232" y="2711839"/>
            <a:ext cx="7775536" cy="6443975"/>
          </a:xfrm>
          <a:custGeom>
            <a:avLst/>
            <a:gdLst/>
            <a:ahLst/>
            <a:cxnLst/>
            <a:rect r="r" b="b" t="t" l="l"/>
            <a:pathLst>
              <a:path h="6443975" w="7775536">
                <a:moveTo>
                  <a:pt x="0" y="0"/>
                </a:moveTo>
                <a:lnTo>
                  <a:pt x="7775536" y="0"/>
                </a:lnTo>
                <a:lnTo>
                  <a:pt x="7775536" y="6443975"/>
                </a:lnTo>
                <a:lnTo>
                  <a:pt x="0" y="6443975"/>
                </a:lnTo>
                <a:lnTo>
                  <a:pt x="0" y="0"/>
                </a:lnTo>
                <a:close/>
              </a:path>
            </a:pathLst>
          </a:custGeom>
          <a:blipFill>
            <a:blip r:embed="rId6"/>
            <a:stretch>
              <a:fillRect l="0" t="0" r="0" b="0"/>
            </a:stretch>
          </a:blipFill>
        </p:spPr>
      </p:sp>
      <p:sp>
        <p:nvSpPr>
          <p:cNvPr name="TextBox 7" id="7"/>
          <p:cNvSpPr txBox="true"/>
          <p:nvPr/>
        </p:nvSpPr>
        <p:spPr>
          <a:xfrm rot="0">
            <a:off x="2143186" y="1432386"/>
            <a:ext cx="10777835" cy="898796"/>
          </a:xfrm>
          <a:prstGeom prst="rect">
            <a:avLst/>
          </a:prstGeom>
        </p:spPr>
        <p:txBody>
          <a:bodyPr anchor="t" rtlCol="false" tIns="0" lIns="0" bIns="0" rIns="0">
            <a:spAutoFit/>
          </a:bodyPr>
          <a:lstStyle/>
          <a:p>
            <a:pPr algn="ctr">
              <a:lnSpc>
                <a:spcPts val="6908"/>
              </a:lnSpc>
              <a:spcBef>
                <a:spcPct val="0"/>
              </a:spcBef>
            </a:pPr>
            <a:r>
              <a:rPr lang="en-US" sz="5904">
                <a:solidFill>
                  <a:srgbClr val="000000"/>
                </a:solidFill>
                <a:latin typeface="210 마마블럭"/>
                <a:ea typeface="210 마마블럭"/>
                <a:cs typeface="210 마마블럭"/>
                <a:sym typeface="210 마마블럭"/>
              </a:rPr>
              <a:t>Dashboard Visualization by Tableau</a:t>
            </a:r>
          </a:p>
        </p:txBody>
      </p:sp>
      <p:sp>
        <p:nvSpPr>
          <p:cNvPr name="TextBox 8" id="8"/>
          <p:cNvSpPr txBox="true"/>
          <p:nvPr/>
        </p:nvSpPr>
        <p:spPr>
          <a:xfrm rot="0">
            <a:off x="13917643" y="4781904"/>
            <a:ext cx="2546012" cy="625207"/>
          </a:xfrm>
          <a:prstGeom prst="rect">
            <a:avLst/>
          </a:prstGeom>
        </p:spPr>
        <p:txBody>
          <a:bodyPr anchor="t" rtlCol="false" tIns="0" lIns="0" bIns="0" rIns="0">
            <a:spAutoFit/>
          </a:bodyPr>
          <a:lstStyle/>
          <a:p>
            <a:pPr algn="ctr">
              <a:lnSpc>
                <a:spcPts val="4826"/>
              </a:lnSpc>
              <a:spcBef>
                <a:spcPct val="0"/>
              </a:spcBef>
            </a:pPr>
            <a:r>
              <a:rPr lang="en-US" sz="4125">
                <a:solidFill>
                  <a:srgbClr val="4E79A7"/>
                </a:solidFill>
                <a:latin typeface="210 마마블럭"/>
                <a:ea typeface="210 마마블럭"/>
                <a:cs typeface="210 마마블럭"/>
                <a:sym typeface="210 마마블럭"/>
              </a:rPr>
              <a:t>Headphones</a:t>
            </a:r>
          </a:p>
        </p:txBody>
      </p:sp>
      <p:sp>
        <p:nvSpPr>
          <p:cNvPr name="TextBox 9" id="9"/>
          <p:cNvSpPr txBox="true"/>
          <p:nvPr/>
        </p:nvSpPr>
        <p:spPr>
          <a:xfrm rot="0">
            <a:off x="13908118" y="5153025"/>
            <a:ext cx="1472079" cy="625207"/>
          </a:xfrm>
          <a:prstGeom prst="rect">
            <a:avLst/>
          </a:prstGeom>
        </p:spPr>
        <p:txBody>
          <a:bodyPr anchor="t" rtlCol="false" tIns="0" lIns="0" bIns="0" rIns="0">
            <a:spAutoFit/>
          </a:bodyPr>
          <a:lstStyle/>
          <a:p>
            <a:pPr algn="ctr">
              <a:lnSpc>
                <a:spcPts val="4826"/>
              </a:lnSpc>
              <a:spcBef>
                <a:spcPct val="0"/>
              </a:spcBef>
            </a:pPr>
            <a:r>
              <a:rPr lang="en-US" sz="4125">
                <a:solidFill>
                  <a:srgbClr val="F28E2B"/>
                </a:solidFill>
                <a:latin typeface="210 마마블럭"/>
                <a:ea typeface="210 마마블럭"/>
                <a:cs typeface="210 마마블럭"/>
                <a:sym typeface="210 마마블럭"/>
              </a:rPr>
              <a:t>Laptop</a:t>
            </a:r>
          </a:p>
        </p:txBody>
      </p:sp>
      <p:sp>
        <p:nvSpPr>
          <p:cNvPr name="TextBox 10" id="10"/>
          <p:cNvSpPr txBox="true"/>
          <p:nvPr/>
        </p:nvSpPr>
        <p:spPr>
          <a:xfrm rot="0">
            <a:off x="13892368" y="5535928"/>
            <a:ext cx="2514604" cy="625207"/>
          </a:xfrm>
          <a:prstGeom prst="rect">
            <a:avLst/>
          </a:prstGeom>
        </p:spPr>
        <p:txBody>
          <a:bodyPr anchor="t" rtlCol="false" tIns="0" lIns="0" bIns="0" rIns="0">
            <a:spAutoFit/>
          </a:bodyPr>
          <a:lstStyle/>
          <a:p>
            <a:pPr algn="ctr">
              <a:lnSpc>
                <a:spcPts val="4826"/>
              </a:lnSpc>
              <a:spcBef>
                <a:spcPct val="0"/>
              </a:spcBef>
            </a:pPr>
            <a:r>
              <a:rPr lang="en-US" sz="4125">
                <a:solidFill>
                  <a:srgbClr val="E1585A"/>
                </a:solidFill>
                <a:latin typeface="210 마마블럭"/>
                <a:ea typeface="210 마마블럭"/>
                <a:cs typeface="210 마마블럭"/>
                <a:sym typeface="210 마마블럭"/>
              </a:rPr>
              <a:t>Smartphone</a:t>
            </a:r>
          </a:p>
        </p:txBody>
      </p:sp>
      <p:sp>
        <p:nvSpPr>
          <p:cNvPr name="TextBox 11" id="11"/>
          <p:cNvSpPr txBox="true"/>
          <p:nvPr/>
        </p:nvSpPr>
        <p:spPr>
          <a:xfrm rot="0">
            <a:off x="13892368" y="5933827"/>
            <a:ext cx="2530354" cy="625207"/>
          </a:xfrm>
          <a:prstGeom prst="rect">
            <a:avLst/>
          </a:prstGeom>
        </p:spPr>
        <p:txBody>
          <a:bodyPr anchor="t" rtlCol="false" tIns="0" lIns="0" bIns="0" rIns="0">
            <a:spAutoFit/>
          </a:bodyPr>
          <a:lstStyle/>
          <a:p>
            <a:pPr algn="ctr">
              <a:lnSpc>
                <a:spcPts val="4826"/>
              </a:lnSpc>
              <a:spcBef>
                <a:spcPct val="0"/>
              </a:spcBef>
            </a:pPr>
            <a:r>
              <a:rPr lang="en-US" sz="4125">
                <a:solidFill>
                  <a:srgbClr val="76B7B2"/>
                </a:solidFill>
                <a:latin typeface="210 마마블럭"/>
                <a:ea typeface="210 마마블럭"/>
                <a:cs typeface="210 마마블럭"/>
                <a:sym typeface="210 마마블럭"/>
              </a:rPr>
              <a:t>Smartwatch</a:t>
            </a:r>
          </a:p>
        </p:txBody>
      </p:sp>
      <p:sp>
        <p:nvSpPr>
          <p:cNvPr name="TextBox 12" id="12"/>
          <p:cNvSpPr txBox="true"/>
          <p:nvPr/>
        </p:nvSpPr>
        <p:spPr>
          <a:xfrm rot="0">
            <a:off x="13908118" y="6340034"/>
            <a:ext cx="1343240" cy="625207"/>
          </a:xfrm>
          <a:prstGeom prst="rect">
            <a:avLst/>
          </a:prstGeom>
        </p:spPr>
        <p:txBody>
          <a:bodyPr anchor="t" rtlCol="false" tIns="0" lIns="0" bIns="0" rIns="0">
            <a:spAutoFit/>
          </a:bodyPr>
          <a:lstStyle/>
          <a:p>
            <a:pPr algn="ctr">
              <a:lnSpc>
                <a:spcPts val="4826"/>
              </a:lnSpc>
              <a:spcBef>
                <a:spcPct val="0"/>
              </a:spcBef>
            </a:pPr>
            <a:r>
              <a:rPr lang="en-US" sz="4125">
                <a:solidFill>
                  <a:srgbClr val="519D47"/>
                </a:solidFill>
                <a:latin typeface="210 마마블럭"/>
                <a:ea typeface="210 마마블럭"/>
                <a:cs typeface="210 마마블럭"/>
                <a:sym typeface="210 마마블럭"/>
              </a:rPr>
              <a:t>Tablet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684667" y="1028700"/>
            <a:ext cx="3574633" cy="8229600"/>
          </a:xfrm>
          <a:custGeom>
            <a:avLst/>
            <a:gdLst/>
            <a:ahLst/>
            <a:cxnLst/>
            <a:rect r="r" b="b" t="t" l="l"/>
            <a:pathLst>
              <a:path h="8229600" w="3574633">
                <a:moveTo>
                  <a:pt x="0" y="0"/>
                </a:moveTo>
                <a:lnTo>
                  <a:pt x="3574633" y="0"/>
                </a:lnTo>
                <a:lnTo>
                  <a:pt x="3574633" y="8229600"/>
                </a:lnTo>
                <a:lnTo>
                  <a:pt x="0" y="8229600"/>
                </a:lnTo>
                <a:lnTo>
                  <a:pt x="0" y="0"/>
                </a:lnTo>
                <a:close/>
              </a:path>
            </a:pathLst>
          </a:custGeom>
          <a:blipFill>
            <a:blip r:embed="rId3"/>
            <a:stretch>
              <a:fillRect l="0" t="0" r="0" b="0"/>
            </a:stretch>
          </a:blipFill>
        </p:spPr>
      </p:sp>
      <p:sp>
        <p:nvSpPr>
          <p:cNvPr name="Freeform 4" id="4"/>
          <p:cNvSpPr/>
          <p:nvPr/>
        </p:nvSpPr>
        <p:spPr>
          <a:xfrm flipH="true" flipV="false" rot="0">
            <a:off x="1027187" y="1028700"/>
            <a:ext cx="3574633" cy="8229600"/>
          </a:xfrm>
          <a:custGeom>
            <a:avLst/>
            <a:gdLst/>
            <a:ahLst/>
            <a:cxnLst/>
            <a:rect r="r" b="b" t="t" l="l"/>
            <a:pathLst>
              <a:path h="8229600" w="3574633">
                <a:moveTo>
                  <a:pt x="3574633" y="0"/>
                </a:moveTo>
                <a:lnTo>
                  <a:pt x="0" y="0"/>
                </a:lnTo>
                <a:lnTo>
                  <a:pt x="0" y="8229600"/>
                </a:lnTo>
                <a:lnTo>
                  <a:pt x="3574633" y="8229600"/>
                </a:lnTo>
                <a:lnTo>
                  <a:pt x="3574633" y="0"/>
                </a:lnTo>
                <a:close/>
              </a:path>
            </a:pathLst>
          </a:custGeom>
          <a:blipFill>
            <a:blip r:embed="rId3"/>
            <a:stretch>
              <a:fillRect l="0" t="0" r="0" b="0"/>
            </a:stretch>
          </a:blipFill>
        </p:spPr>
      </p:sp>
      <p:sp>
        <p:nvSpPr>
          <p:cNvPr name="TextBox 5" id="5"/>
          <p:cNvSpPr txBox="true"/>
          <p:nvPr/>
        </p:nvSpPr>
        <p:spPr>
          <a:xfrm rot="0">
            <a:off x="3718060" y="3336440"/>
            <a:ext cx="10851880" cy="3995121"/>
          </a:xfrm>
          <a:prstGeom prst="rect">
            <a:avLst/>
          </a:prstGeom>
        </p:spPr>
        <p:txBody>
          <a:bodyPr anchor="t" rtlCol="false" tIns="0" lIns="0" bIns="0" rIns="0">
            <a:spAutoFit/>
          </a:bodyPr>
          <a:lstStyle/>
          <a:p>
            <a:pPr algn="ctr">
              <a:lnSpc>
                <a:spcPts val="15229"/>
              </a:lnSpc>
            </a:pPr>
            <a:r>
              <a:rPr lang="en-US" sz="16030">
                <a:solidFill>
                  <a:srgbClr val="FFFFFF"/>
                </a:solidFill>
                <a:latin typeface="210 마마블럭"/>
                <a:ea typeface="210 마마블럭"/>
                <a:cs typeface="210 마마블럭"/>
                <a:sym typeface="210 마마블럭"/>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DAG4N4mBuB4</dc:identifier>
  <dcterms:modified xsi:type="dcterms:W3CDTF">2011-08-01T06:04:30Z</dcterms:modified>
  <cp:revision>1</cp:revision>
  <dc:title>Salinan dari Data Analytics</dc:title>
</cp:coreProperties>
</file>